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69" r:id="rId3"/>
    <p:sldId id="279" r:id="rId4"/>
    <p:sldId id="280" r:id="rId5"/>
    <p:sldId id="281" r:id="rId6"/>
    <p:sldId id="294" r:id="rId7"/>
    <p:sldId id="293" r:id="rId8"/>
    <p:sldId id="286" r:id="rId9"/>
    <p:sldId id="276" r:id="rId10"/>
    <p:sldId id="272" r:id="rId11"/>
    <p:sldId id="270" r:id="rId12"/>
    <p:sldId id="265"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A8AC73-FFC3-4092-95B7-F0B0C0A3C52F}" v="3" dt="2025-08-19T04:51:01.342"/>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8" d="100"/>
          <a:sy n="58" d="100"/>
        </p:scale>
        <p:origin x="964"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bhayshah0305/TimetableGenerationSyste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s://stackoverflow.com/questions/2177836/algorithm-for-creating-a-school-timetable" TargetMode="External"/><Relationship Id="rId4" Type="http://schemas.openxmlformats.org/officeDocument/2006/relationships/hyperlink" Target="https://github.com/PROxZIMA/TimetableScheduler"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a:solidFill>
                  <a:schemeClr val="tx1"/>
                </a:solidFill>
                <a:latin typeface="Cambria" panose="02040503050406030204" pitchFamily="18" charset="0"/>
                <a:ea typeface="Cambria" panose="02040503050406030204" pitchFamily="18" charset="0"/>
              </a:rPr>
              <a:t>SUMMER-TERM TIMETABLE GENERATION</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a:t>
            </a:r>
            <a:r>
              <a:rPr lang="en-GB" sz="1800">
                <a:latin typeface="Cambria" panose="02040503050406030204" pitchFamily="18" charset="0"/>
                <a:ea typeface="Cambria" panose="02040503050406030204" pitchFamily="18" charset="0"/>
              </a:rPr>
              <a:t>Number:PSCS_399</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a:solidFill>
                  <a:srgbClr val="17365D"/>
                </a:solidFill>
                <a:latin typeface="Cambria" panose="02040503050406030204" pitchFamily="18" charset="0"/>
                <a:ea typeface="Cambria" panose="02040503050406030204" pitchFamily="18" charset="0"/>
                <a:cs typeface="Verdana"/>
                <a:sym typeface="Verdana"/>
              </a:rPr>
              <a:t>Dr.Sandeep Albert Mathias Assitant Prof</a:t>
            </a:r>
            <a:r>
              <a:rPr lang="en-GB" sz="1700" b="1">
                <a:solidFill>
                  <a:srgbClr val="17365D"/>
                </a:solidFill>
                <a:latin typeface="Cambria" panose="02040503050406030204" pitchFamily="18" charset="0"/>
                <a:ea typeface="Cambria" panose="02040503050406030204" pitchFamily="18" charset="0"/>
                <a:cs typeface="Verdana"/>
                <a:sym typeface="Verdana"/>
              </a:rPr>
              <a:t>essor,</a:t>
            </a:r>
          </a:p>
          <a:p>
            <a:pPr marL="0" marR="0" lvl="0" indent="0" algn="l" rtl="0">
              <a:spcBef>
                <a:spcPts val="340"/>
              </a:spcBef>
              <a:spcAft>
                <a:spcPts val="0"/>
              </a:spcAft>
              <a:buClr>
                <a:srgbClr val="17365D"/>
              </a:buClr>
              <a:buSzPts val="1700"/>
              <a:buFont typeface="Arial"/>
              <a:buNone/>
            </a:pPr>
            <a:r>
              <a:rPr lang="en-GB" sz="1700" b="1">
                <a:solidFill>
                  <a:srgbClr val="17365D"/>
                </a:solidFill>
                <a:latin typeface="Cambria" panose="02040503050406030204" pitchFamily="18" charset="0"/>
                <a:ea typeface="Cambria" panose="02040503050406030204" pitchFamily="18" charset="0"/>
                <a:cs typeface="Verdana"/>
                <a:sym typeface="Verdana"/>
              </a:rPr>
              <a:t>Dr.Anand Prakash Associate Professor,</a:t>
            </a:r>
          </a:p>
          <a:p>
            <a:pPr marL="0" marR="0" lvl="0" indent="0" algn="l" rtl="0">
              <a:spcBef>
                <a:spcPts val="340"/>
              </a:spcBef>
              <a:spcAft>
                <a:spcPts val="0"/>
              </a:spcAft>
              <a:buClr>
                <a:srgbClr val="17365D"/>
              </a:buClr>
              <a:buSzPts val="1700"/>
              <a:buFont typeface="Arial"/>
              <a:buNone/>
            </a:pPr>
            <a:r>
              <a:rPr lang="en-GB" sz="1700" b="1" i="0" u="none" strike="noStrike" cap="none">
                <a:solidFill>
                  <a:srgbClr val="17365D"/>
                </a:solidFill>
                <a:latin typeface="Cambria" panose="02040503050406030204" pitchFamily="18" charset="0"/>
                <a:ea typeface="Cambria" panose="02040503050406030204" pitchFamily="18" charset="0"/>
                <a:cs typeface="Verdana"/>
                <a:sym typeface="Verdana"/>
              </a:rPr>
              <a:t>School </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096130820"/>
              </p:ext>
            </p:extLst>
          </p:nvPr>
        </p:nvGraphicFramePr>
        <p:xfrm>
          <a:off x="553347" y="2723283"/>
          <a:ext cx="5418675" cy="204218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24295">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70239">
                <a:tc>
                  <a:txBody>
                    <a:bodyPr/>
                    <a:lstStyle/>
                    <a:p>
                      <a:pPr>
                        <a:buNone/>
                      </a:pPr>
                      <a:endParaRPr lang="en-IN"/>
                    </a:p>
                  </a:txBody>
                  <a:tcPr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a:buNone/>
                      </a:pPr>
                      <a:endParaRPr lang="en-IN"/>
                    </a:p>
                  </a:txBody>
                  <a:tcPr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97263">
                <a:tc>
                  <a:txBody>
                    <a:bodyPr/>
                    <a:lstStyle/>
                    <a:p>
                      <a:pPr>
                        <a:buNone/>
                      </a:pPr>
                      <a:r>
                        <a:rPr lang="en-IN" sz="1600">
                          <a:latin typeface="Cambria" panose="02040503050406030204" pitchFamily="18" charset="0"/>
                          <a:ea typeface="Cambria" panose="02040503050406030204" pitchFamily="18" charset="0"/>
                        </a:rPr>
                        <a:t>    20221COM0100</a:t>
                      </a:r>
                    </a:p>
                  </a:txBody>
                  <a:tcPr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a:buNone/>
                      </a:pPr>
                      <a:r>
                        <a:rPr lang="en-IN" sz="1600">
                          <a:latin typeface="Cambria" panose="02040503050406030204" pitchFamily="18" charset="0"/>
                          <a:ea typeface="Cambria" panose="02040503050406030204" pitchFamily="18" charset="0"/>
                        </a:rPr>
                        <a:t>                 Keerthi D V</a:t>
                      </a:r>
                    </a:p>
                  </a:txBody>
                  <a:tcPr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97263">
                <a:tc>
                  <a:txBody>
                    <a:bodyPr/>
                    <a:lstStyle/>
                    <a:p>
                      <a:pPr>
                        <a:buNone/>
                      </a:pPr>
                      <a:r>
                        <a:rPr lang="en-IN" sz="1600">
                          <a:latin typeface="Cambria" panose="02040503050406030204" pitchFamily="18" charset="0"/>
                          <a:ea typeface="Cambria" panose="02040503050406030204" pitchFamily="18" charset="0"/>
                        </a:rPr>
                        <a:t>    20221COM0108</a:t>
                      </a:r>
                    </a:p>
                  </a:txBody>
                  <a:tcPr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a:buNone/>
                      </a:pPr>
                      <a:r>
                        <a:rPr lang="en-IN" sz="1600">
                          <a:latin typeface="Cambria" panose="02040503050406030204" pitchFamily="18" charset="0"/>
                          <a:ea typeface="Cambria" panose="02040503050406030204" pitchFamily="18" charset="0"/>
                        </a:rPr>
                        <a:t>                 Vidya S</a:t>
                      </a:r>
                    </a:p>
                  </a:txBody>
                  <a:tcPr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97263">
                <a:tc>
                  <a:txBody>
                    <a:bodyPr/>
                    <a:lstStyle/>
                    <a:p>
                      <a:pPr>
                        <a:buNone/>
                      </a:pPr>
                      <a:r>
                        <a:rPr lang="en-IN" sz="1600">
                          <a:latin typeface="Cambria" panose="02040503050406030204" pitchFamily="18" charset="0"/>
                          <a:ea typeface="Cambria" panose="02040503050406030204" pitchFamily="18" charset="0"/>
                        </a:rPr>
                        <a:t>    20221COM0111</a:t>
                      </a:r>
                    </a:p>
                  </a:txBody>
                  <a:tcPr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a:buNone/>
                      </a:pPr>
                      <a:r>
                        <a:rPr lang="en-IN" sz="1600">
                          <a:latin typeface="Cambria" panose="02040503050406030204" pitchFamily="18" charset="0"/>
                          <a:ea typeface="Cambria" panose="02040503050406030204" pitchFamily="18" charset="0"/>
                        </a:rPr>
                        <a:t>                 Nishmitha K G</a:t>
                      </a:r>
                    </a:p>
                  </a:txBody>
                  <a:tcPr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24295">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Review-3</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553347" y="4659531"/>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1800" b="1" i="0" u="none" strike="noStrike" cap="none">
                <a:solidFill>
                  <a:schemeClr val="accent1"/>
                </a:solidFill>
                <a:latin typeface="Cambria" panose="02040503050406030204" pitchFamily="18" charset="0"/>
                <a:ea typeface="Cambria" panose="02040503050406030204" pitchFamily="18" charset="0"/>
                <a:cs typeface="Verdana"/>
                <a:sym typeface="Verdana"/>
              </a:rPr>
              <a:t>Program:Btech in Computer Engineering</a:t>
            </a:r>
            <a:endParaRPr lang="en-US" sz="1800" b="1" i="0" u="none" strike="noStrike" cap="none" dirty="0">
              <a:solidFill>
                <a:schemeClr val="bg2">
                  <a:lumMod val="50000"/>
                </a:schemeClr>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a:t>
            </a:r>
            <a:r>
              <a:rPr lang="en-US" sz="1800" b="1">
                <a:solidFill>
                  <a:schemeClr val="accent1"/>
                </a:solidFill>
                <a:latin typeface="Cambria" panose="02040503050406030204" pitchFamily="18" charset="0"/>
                <a:ea typeface="Cambria" panose="02040503050406030204" pitchFamily="18" charset="0"/>
                <a:cs typeface="Verdana"/>
                <a:sym typeface="Verdana"/>
              </a:rPr>
              <a:t>: Dr Pallavi R</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a:t>
            </a:r>
            <a:r>
              <a:rPr lang="en-US" sz="1800" b="1" i="0" u="none" strike="noStrike" cap="none">
                <a:solidFill>
                  <a:schemeClr val="accent1"/>
                </a:solidFill>
                <a:latin typeface="Cambria" panose="02040503050406030204" pitchFamily="18" charset="0"/>
                <a:ea typeface="Cambria" panose="02040503050406030204" pitchFamily="18" charset="0"/>
                <a:cs typeface="Verdana"/>
                <a:sym typeface="Verdana"/>
              </a:rPr>
              <a:t>: Ms.Benitha Christinal J</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a:t>
            </a:r>
            <a:r>
              <a:rPr lang="en-US" sz="1800" b="1">
                <a:solidFill>
                  <a:schemeClr val="accent1"/>
                </a:solidFill>
                <a:latin typeface="Cambria" panose="02040503050406030204" pitchFamily="18" charset="0"/>
                <a:ea typeface="Cambria" panose="02040503050406030204" pitchFamily="18" charset="0"/>
                <a:cs typeface="Verdana"/>
                <a:sym typeface="Verdana"/>
              </a:rPr>
              <a:t>Coordinators:Dr.Sampath A K,Dr.Geetha A</a:t>
            </a:r>
            <a:endParaRPr sz="1800" b="1" i="0" u="none" strike="noStrike" cap="none" dirty="0">
              <a:solidFill>
                <a:schemeClr val="bg2">
                  <a:lumMod val="60000"/>
                  <a:lumOff val="40000"/>
                </a:schemeClr>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61257"/>
            <a:ext cx="10668000" cy="1023395"/>
          </a:xfrm>
          <a:prstGeom prst="rect">
            <a:avLst/>
          </a:prstGeom>
          <a:noFill/>
          <a:ln>
            <a:noFill/>
          </a:ln>
        </p:spPr>
        <p:txBody>
          <a:bodyPr spcFirstLastPara="1" wrap="square" lIns="91425" tIns="45700" rIns="91425" bIns="45700" anchor="ctr" anchorCtr="0">
            <a:noAutofit/>
          </a:bodyPr>
          <a:lstStyle/>
          <a:p>
            <a:br>
              <a:rPr lang="en-IN"/>
            </a:br>
            <a:r>
              <a:rPr lang="en-IN"/>
              <a:t>Algorithm details</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979714"/>
            <a:ext cx="10668000" cy="5116287"/>
          </a:xfrm>
          <a:prstGeom prst="rect">
            <a:avLst/>
          </a:prstGeom>
          <a:noFill/>
          <a:ln>
            <a:noFill/>
          </a:ln>
        </p:spPr>
        <p:txBody>
          <a:bodyPr spcFirstLastPara="1" wrap="square" lIns="91425" tIns="45700" rIns="91425" bIns="45700" anchor="t" anchorCtr="0">
            <a:normAutofit/>
          </a:bodyPr>
          <a:lstStyle/>
          <a:p>
            <a:pPr marL="76200" indent="0">
              <a:buNone/>
            </a:pPr>
            <a:r>
              <a:rPr lang="en-US">
                <a:latin typeface="Times New Roman" panose="02020603050405020304" pitchFamily="18" charset="0"/>
                <a:cs typeface="Times New Roman" panose="02020603050405020304" pitchFamily="18" charset="0"/>
              </a:rPr>
              <a:t>The timetable generation system processes student registration data through a systematic four-phase approach. The algorithm begins with data extraction from compressed archives, applies business rules for course eligibility, computes scheduling parameters, and generates structured output files for downstream timetable creation.</a:t>
            </a:r>
          </a:p>
          <a:p>
            <a:pPr marL="76200" indent="0">
              <a:buNone/>
            </a:pPr>
            <a:r>
              <a:rPr lang="en-US">
                <a:latin typeface="Times New Roman" panose="02020603050405020304" pitchFamily="18" charset="0"/>
                <a:cs typeface="Times New Roman" panose="02020603050405020304" pitchFamily="18" charset="0"/>
              </a:rPr>
              <a:t>Algorithm Type</a:t>
            </a:r>
          </a:p>
          <a:p>
            <a:r>
              <a:rPr lang="en-US">
                <a:latin typeface="Times New Roman" panose="02020603050405020304" pitchFamily="18" charset="0"/>
                <a:cs typeface="Times New Roman" panose="02020603050405020304" pitchFamily="18" charset="0"/>
              </a:rPr>
              <a:t>The specific algorithm implemented is a simplified timetable preprocessing algorithm that focuses on data extraction, filtering, and student section assignment. Unlike complex timetabling algorithms such as genetic algorithms or constraint satisfaction methods commonly used in academic scheduling, this algorithm takes a straightforward sequential approach.</a:t>
            </a:r>
          </a:p>
          <a:p>
            <a:pPr marL="342900" lvl="0" indent="-190500" algn="just">
              <a:lnSpc>
                <a:spcPct val="200000"/>
              </a:lnSpc>
              <a:spcBef>
                <a:spcPts val="0"/>
              </a:spcBef>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A8B0C-72C2-A818-CCBD-BF28CA2CEFC5}"/>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02D11CB-65DE-0B96-144B-764660AD58A3}"/>
              </a:ext>
            </a:extLst>
          </p:cNvPr>
          <p:cNvSpPr>
            <a:spLocks noGrp="1"/>
          </p:cNvSpPr>
          <p:nvPr>
            <p:ph type="body" idx="1"/>
          </p:nvPr>
        </p:nvSpPr>
        <p:spPr/>
        <p:txBody>
          <a:bodyPr>
            <a:normAutofit/>
          </a:bodyPr>
          <a:lstStyle/>
          <a:p>
            <a:r>
              <a:rPr lang="en-IN">
                <a:latin typeface="Times New Roman" panose="02020603050405020304" pitchFamily="18" charset="0"/>
                <a:cs typeface="Times New Roman" panose="02020603050405020304" pitchFamily="18" charset="0"/>
              </a:rPr>
              <a:t>Core Algorithm Components</a:t>
            </a:r>
          </a:p>
          <a:p>
            <a:r>
              <a:rPr lang="en-IN">
                <a:latin typeface="Times New Roman" panose="02020603050405020304" pitchFamily="18" charset="0"/>
                <a:cs typeface="Times New Roman" panose="02020603050405020304" pitchFamily="18" charset="0"/>
              </a:rPr>
              <a:t>The algorithm combines several algorithmic techniques:</a:t>
            </a:r>
          </a:p>
          <a:p>
            <a:r>
              <a:rPr lang="en-IN">
                <a:latin typeface="Times New Roman" panose="02020603050405020304" pitchFamily="18" charset="0"/>
                <a:cs typeface="Times New Roman" panose="02020603050405020304" pitchFamily="18" charset="0"/>
              </a:rPr>
              <a:t>Data Processing Algorithm: </a:t>
            </a:r>
          </a:p>
          <a:p>
            <a:pPr marL="76200" indent="0">
              <a:buNone/>
            </a:pPr>
            <a:r>
              <a:rPr lang="en-IN">
                <a:latin typeface="Times New Roman" panose="02020603050405020304" pitchFamily="18" charset="0"/>
                <a:cs typeface="Times New Roman" panose="02020603050405020304" pitchFamily="18" charset="0"/>
              </a:rPr>
              <a:t>Uses pandas-based operations for efficient data manipulation and filtering. The algorithm applies vectorized operations for performance optimization when processing student registration data.</a:t>
            </a:r>
          </a:p>
          <a:p>
            <a:r>
              <a:rPr lang="en-IN">
                <a:latin typeface="Times New Roman" panose="02020603050405020304" pitchFamily="18" charset="0"/>
                <a:cs typeface="Times New Roman" panose="02020603050405020304" pitchFamily="18" charset="0"/>
              </a:rPr>
              <a:t>Random Section Assignment:</a:t>
            </a:r>
          </a:p>
          <a:p>
            <a:pPr marL="76200" indent="0">
              <a:buNone/>
            </a:pPr>
            <a:r>
              <a:rPr lang="en-IN">
                <a:latin typeface="Times New Roman" panose="02020603050405020304" pitchFamily="18" charset="0"/>
                <a:cs typeface="Times New Roman" panose="02020603050405020304" pitchFamily="18" charset="0"/>
              </a:rPr>
              <a:t> Employs numpy's random number generation with a fixed seed (42) to ensure reproducible student distribution across sections. The algorithm uses numpy.array_split() for balanced section creation, which implements a fair division algorithm.</a:t>
            </a:r>
          </a:p>
        </p:txBody>
      </p:sp>
    </p:spTree>
    <p:extLst>
      <p:ext uri="{BB962C8B-B14F-4D97-AF65-F5344CB8AC3E}">
        <p14:creationId xmlns:p14="http://schemas.microsoft.com/office/powerpoint/2010/main" val="4010185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4B2C2-1ECC-CA4F-873B-EF6E7C044C8D}"/>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585E3AFC-0326-B6AC-DE63-E2638B188D51}"/>
              </a:ext>
            </a:extLst>
          </p:cNvPr>
          <p:cNvSpPr>
            <a:spLocks noGrp="1"/>
          </p:cNvSpPr>
          <p:nvPr>
            <p:ph type="body" idx="1"/>
          </p:nvPr>
        </p:nvSpPr>
        <p:spPr/>
        <p:txBody>
          <a:bodyPr/>
          <a:lstStyle/>
          <a:p>
            <a:r>
              <a:rPr lang="en-US">
                <a:latin typeface="Times New Roman" panose="02020603050405020304" pitchFamily="18" charset="0"/>
                <a:cs typeface="Times New Roman" panose="02020603050405020304" pitchFamily="18" charset="0"/>
              </a:rPr>
              <a:t>Greedy Filtering Approach: </a:t>
            </a:r>
          </a:p>
          <a:p>
            <a:pPr marL="76200" indent="0">
              <a:buNone/>
            </a:pPr>
            <a:r>
              <a:rPr lang="en-US">
                <a:latin typeface="Times New Roman" panose="02020603050405020304" pitchFamily="18" charset="0"/>
                <a:cs typeface="Times New Roman" panose="02020603050405020304" pitchFamily="18" charset="0"/>
              </a:rPr>
              <a:t>Applies sequential filtering rules including MOOC exclusions and minimum enrollment thresholds. This greedy approach processes courses independently without considering complex interdependencies.</a:t>
            </a:r>
          </a:p>
          <a:p>
            <a:r>
              <a:rPr lang="en-US">
                <a:latin typeface="Times New Roman" panose="02020603050405020304" pitchFamily="18" charset="0"/>
                <a:cs typeface="Times New Roman" panose="02020603050405020304" pitchFamily="18" charset="0"/>
              </a:rPr>
              <a:t>Algorithm Classification</a:t>
            </a:r>
          </a:p>
          <a:p>
            <a:pPr marL="76200" indent="0">
              <a:buNone/>
            </a:pPr>
            <a:r>
              <a:rPr lang="en-US">
                <a:latin typeface="Times New Roman" panose="02020603050405020304" pitchFamily="18" charset="0"/>
                <a:cs typeface="Times New Roman" panose="02020603050405020304" pitchFamily="18" charset="0"/>
              </a:rPr>
              <a:t>This algorithm falls under the category of preprocessing algorithms for timetable generation rather than full timetable optimization algorithms. Common timetabling algorithms include genetic algorithms, simulated annealing, constraint satisfaction problems, and graph coloring algorithms. However, the implemented solution focuses specifically on the preliminary stage of student section assignment</a:t>
            </a:r>
          </a:p>
          <a:p>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762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C2174-8846-CC9F-D787-49CFC78C80B3}"/>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15040B7D-2560-10ED-E770-198CF0DDF5DF}"/>
              </a:ext>
            </a:extLst>
          </p:cNvPr>
          <p:cNvSpPr>
            <a:spLocks noGrp="1"/>
          </p:cNvSpPr>
          <p:nvPr>
            <p:ph type="body" idx="1"/>
          </p:nvPr>
        </p:nvSpPr>
        <p:spPr/>
        <p:txBody>
          <a:bodyPr>
            <a:normAutofit/>
          </a:bodyPr>
          <a:lstStyle/>
          <a:p>
            <a:r>
              <a:rPr lang="en-US">
                <a:latin typeface="Times New Roman" panose="02020603050405020304" pitchFamily="18" charset="0"/>
                <a:cs typeface="Times New Roman" panose="02020603050405020304" pitchFamily="18" charset="0"/>
              </a:rPr>
              <a:t>The algorithm does not implement faculty assignment, room scheduling, or time slot optimization, which are typically handled by more sophisticated algorithms like genetic algorithms or integer linear programming methods. Instead, it provides a foundation for downstream timetabling systems by creating properly sized sections with balanced student distribution.</a:t>
            </a:r>
          </a:p>
          <a:p>
            <a:pPr marL="76200" indent="0">
              <a:buNone/>
            </a:pPr>
            <a:r>
              <a:rPr lang="en-US">
                <a:latin typeface="Times New Roman" panose="02020603050405020304" pitchFamily="18" charset="0"/>
                <a:cs typeface="Times New Roman" panose="02020603050405020304" pitchFamily="18" charset="0"/>
              </a:rPr>
              <a:t>Performance Characteristics</a:t>
            </a:r>
          </a:p>
          <a:p>
            <a:r>
              <a:rPr lang="en-US">
                <a:latin typeface="Times New Roman" panose="02020603050405020304" pitchFamily="18" charset="0"/>
                <a:cs typeface="Times New Roman" panose="02020603050405020304" pitchFamily="18" charset="0"/>
              </a:rPr>
              <a:t>The algorithm operates with linear time complexity for most operations, making it suitable for large datasets. The use of pandas groupby operations and numpy array manipulation ensures efficient processing compared to iterative approaches. The deterministic nature with controlled randomness provides consistent results across multiple runs.</a:t>
            </a:r>
          </a:p>
          <a:p>
            <a:pPr marL="76200" indent="0">
              <a:buNone/>
            </a:pP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7845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D5179-A202-E914-607A-F01334B6BA45}"/>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1872D45D-11CF-C7D8-5207-364639CD80B8}"/>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84E2861E-0CEC-A0F5-BFF2-D9412BF2CD9C}"/>
              </a:ext>
            </a:extLst>
          </p:cNvPr>
          <p:cNvPicPr>
            <a:picLocks noChangeAspect="1"/>
          </p:cNvPicPr>
          <p:nvPr/>
        </p:nvPicPr>
        <p:blipFill>
          <a:blip r:embed="rId2"/>
          <a:stretch>
            <a:fillRect/>
          </a:stretch>
        </p:blipFill>
        <p:spPr>
          <a:xfrm>
            <a:off x="1018466" y="1876208"/>
            <a:ext cx="10155067" cy="3105583"/>
          </a:xfrm>
          <a:prstGeom prst="rect">
            <a:avLst/>
          </a:prstGeom>
        </p:spPr>
      </p:pic>
    </p:spTree>
    <p:extLst>
      <p:ext uri="{BB962C8B-B14F-4D97-AF65-F5344CB8AC3E}">
        <p14:creationId xmlns:p14="http://schemas.microsoft.com/office/powerpoint/2010/main" val="2154902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763399B-0269-D078-4E23-50CBB62FCF29}"/>
              </a:ext>
            </a:extLst>
          </p:cNvPr>
          <p:cNvPicPr>
            <a:picLocks noChangeAspect="1"/>
          </p:cNvPicPr>
          <p:nvPr/>
        </p:nvPicPr>
        <p:blipFill>
          <a:blip r:embed="rId2"/>
          <a:stretch>
            <a:fillRect/>
          </a:stretch>
        </p:blipFill>
        <p:spPr>
          <a:xfrm>
            <a:off x="363557" y="407624"/>
            <a:ext cx="11490591" cy="5739788"/>
          </a:xfrm>
          <a:prstGeom prst="rect">
            <a:avLst/>
          </a:prstGeom>
        </p:spPr>
      </p:pic>
    </p:spTree>
    <p:extLst>
      <p:ext uri="{BB962C8B-B14F-4D97-AF65-F5344CB8AC3E}">
        <p14:creationId xmlns:p14="http://schemas.microsoft.com/office/powerpoint/2010/main" val="3728289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25536-0F77-7775-173C-AD0879671CC5}"/>
              </a:ext>
            </a:extLst>
          </p:cNvPr>
          <p:cNvSpPr>
            <a:spLocks noGrp="1"/>
          </p:cNvSpPr>
          <p:nvPr>
            <p:ph type="title"/>
          </p:nvPr>
        </p:nvSpPr>
        <p:spPr/>
        <p:txBody>
          <a:bodyPr/>
          <a:lstStyle/>
          <a:p>
            <a:r>
              <a:rPr lang="en-IN"/>
              <a:t>Source Code Details and Implementation with Live Demo</a:t>
            </a:r>
          </a:p>
        </p:txBody>
      </p:sp>
      <p:sp>
        <p:nvSpPr>
          <p:cNvPr id="3" name="Text Placeholder 2">
            <a:extLst>
              <a:ext uri="{FF2B5EF4-FFF2-40B4-BE49-F238E27FC236}">
                <a16:creationId xmlns:a16="http://schemas.microsoft.com/office/drawing/2014/main" id="{D36D0E87-F1ED-6C23-280C-E0A0E12A5F64}"/>
              </a:ext>
            </a:extLst>
          </p:cNvPr>
          <p:cNvSpPr>
            <a:spLocks noGrp="1"/>
          </p:cNvSpPr>
          <p:nvPr>
            <p:ph type="body" idx="1"/>
          </p:nvPr>
        </p:nvSpPr>
        <p:spPr/>
        <p:txBody>
          <a:bodyPr/>
          <a:lstStyle/>
          <a:p>
            <a:r>
              <a:rPr lang="en-IN"/>
              <a:t>In google colab </a:t>
            </a:r>
          </a:p>
        </p:txBody>
      </p:sp>
    </p:spTree>
    <p:extLst>
      <p:ext uri="{BB962C8B-B14F-4D97-AF65-F5344CB8AC3E}">
        <p14:creationId xmlns:p14="http://schemas.microsoft.com/office/powerpoint/2010/main" val="4154489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A975A-B06C-425F-D404-0D2C9943708B}"/>
              </a:ext>
            </a:extLst>
          </p:cNvPr>
          <p:cNvSpPr>
            <a:spLocks noGrp="1"/>
          </p:cNvSpPr>
          <p:nvPr>
            <p:ph type="title"/>
          </p:nvPr>
        </p:nvSpPr>
        <p:spPr>
          <a:xfrm>
            <a:off x="812800" y="672028"/>
            <a:ext cx="10668000" cy="90109"/>
          </a:xfrm>
        </p:spPr>
        <p:txBody>
          <a:bodyPr/>
          <a:lstStyle/>
          <a:p>
            <a:r>
              <a:rPr lang="en-IN"/>
              <a:t>Modules:</a:t>
            </a:r>
            <a:br>
              <a:rPr lang="en-IN"/>
            </a:br>
            <a:endParaRPr lang="en-IN"/>
          </a:p>
        </p:txBody>
      </p:sp>
      <p:sp>
        <p:nvSpPr>
          <p:cNvPr id="3" name="Text Placeholder 2">
            <a:extLst>
              <a:ext uri="{FF2B5EF4-FFF2-40B4-BE49-F238E27FC236}">
                <a16:creationId xmlns:a16="http://schemas.microsoft.com/office/drawing/2014/main" id="{3CC1FBE1-BCFC-ECBB-966B-2EE0AA1D0EB9}"/>
              </a:ext>
            </a:extLst>
          </p:cNvPr>
          <p:cNvSpPr>
            <a:spLocks noGrp="1"/>
          </p:cNvSpPr>
          <p:nvPr>
            <p:ph type="body" idx="1"/>
          </p:nvPr>
        </p:nvSpPr>
        <p:spPr/>
        <p:txBody>
          <a:bodyPr>
            <a:normAutofit fontScale="92500" lnSpcReduction="10000"/>
          </a:bodyPr>
          <a:lstStyle/>
          <a:p>
            <a:r>
              <a:rPr lang="en-IN">
                <a:latin typeface="Times New Roman" panose="02020603050405020304" pitchFamily="18" charset="0"/>
                <a:cs typeface="Times New Roman" panose="02020603050405020304" pitchFamily="18" charset="0"/>
              </a:rPr>
              <a:t>Pre‑processing: ZIP extract, XLSX parsing, column normalization.</a:t>
            </a:r>
          </a:p>
          <a:p>
            <a:endParaRPr lang="en-IN">
              <a:latin typeface="Times New Roman" panose="02020603050405020304" pitchFamily="18" charset="0"/>
              <a:cs typeface="Times New Roman" panose="02020603050405020304" pitchFamily="18" charset="0"/>
            </a:endParaRPr>
          </a:p>
          <a:p>
            <a:r>
              <a:rPr lang="en-IN">
                <a:latin typeface="Times New Roman" panose="02020603050405020304" pitchFamily="18" charset="0"/>
                <a:cs typeface="Times New Roman" panose="02020603050405020304" pitchFamily="18" charset="0"/>
              </a:rPr>
              <a:t>Credit &amp; Hours: Parse credit structure (L‑T‑P‑C) → weekly hours.</a:t>
            </a:r>
          </a:p>
          <a:p>
            <a:endParaRPr lang="en-IN">
              <a:latin typeface="Times New Roman" panose="02020603050405020304" pitchFamily="18" charset="0"/>
              <a:cs typeface="Times New Roman" panose="02020603050405020304" pitchFamily="18" charset="0"/>
            </a:endParaRPr>
          </a:p>
          <a:p>
            <a:r>
              <a:rPr lang="en-IN">
                <a:latin typeface="Times New Roman" panose="02020603050405020304" pitchFamily="18" charset="0"/>
                <a:cs typeface="Times New Roman" panose="02020603050405020304" pitchFamily="18" charset="0"/>
              </a:rPr>
              <a:t>Sectioning: Max 60 per section, deterministic shuffle.</a:t>
            </a:r>
          </a:p>
          <a:p>
            <a:endParaRPr lang="en-IN">
              <a:latin typeface="Times New Roman" panose="02020603050405020304" pitchFamily="18" charset="0"/>
              <a:cs typeface="Times New Roman" panose="02020603050405020304" pitchFamily="18" charset="0"/>
            </a:endParaRPr>
          </a:p>
          <a:p>
            <a:r>
              <a:rPr lang="en-IN">
                <a:latin typeface="Times New Roman" panose="02020603050405020304" pitchFamily="18" charset="0"/>
                <a:cs typeface="Times New Roman" panose="02020603050405020304" pitchFamily="18" charset="0"/>
              </a:rPr>
              <a:t>Faculty Assignment: Auto pair (F001…); ensure distinct pair.</a:t>
            </a:r>
          </a:p>
          <a:p>
            <a:endParaRPr lang="en-IN">
              <a:latin typeface="Times New Roman" panose="02020603050405020304" pitchFamily="18" charset="0"/>
              <a:cs typeface="Times New Roman" panose="02020603050405020304" pitchFamily="18" charset="0"/>
            </a:endParaRPr>
          </a:p>
          <a:p>
            <a:r>
              <a:rPr lang="en-IN">
                <a:latin typeface="Times New Roman" panose="02020603050405020304" pitchFamily="18" charset="0"/>
                <a:cs typeface="Times New Roman" panose="02020603050405020304" pitchFamily="18" charset="0"/>
              </a:rPr>
              <a:t>Room Assignment: R001–R200 with weekly capacity guard.</a:t>
            </a:r>
          </a:p>
          <a:p>
            <a:endParaRPr lang="en-IN">
              <a:latin typeface="Times New Roman" panose="02020603050405020304" pitchFamily="18" charset="0"/>
              <a:cs typeface="Times New Roman" panose="02020603050405020304" pitchFamily="18" charset="0"/>
            </a:endParaRPr>
          </a:p>
          <a:p>
            <a:r>
              <a:rPr lang="en-IN">
                <a:latin typeface="Times New Roman" panose="02020603050405020304" pitchFamily="18" charset="0"/>
                <a:cs typeface="Times New Roman" panose="02020603050405020304" pitchFamily="18" charset="0"/>
              </a:rPr>
              <a:t>Validation: Clash check within group; pair &amp; room sanity.</a:t>
            </a:r>
          </a:p>
          <a:p>
            <a:endParaRPr lang="en-IN">
              <a:latin typeface="Times New Roman" panose="02020603050405020304" pitchFamily="18" charset="0"/>
              <a:cs typeface="Times New Roman" panose="02020603050405020304" pitchFamily="18" charset="0"/>
            </a:endParaRPr>
          </a:p>
          <a:p>
            <a:r>
              <a:rPr lang="en-IN">
                <a:latin typeface="Times New Roman" panose="02020603050405020304" pitchFamily="18" charset="0"/>
                <a:cs typeface="Times New Roman" panose="02020603050405020304" pitchFamily="18" charset="0"/>
              </a:rPr>
              <a:t>Reporting: CSV/Excel outputs + utilization.</a:t>
            </a:r>
          </a:p>
        </p:txBody>
      </p:sp>
    </p:spTree>
    <p:extLst>
      <p:ext uri="{BB962C8B-B14F-4D97-AF65-F5344CB8AC3E}">
        <p14:creationId xmlns:p14="http://schemas.microsoft.com/office/powerpoint/2010/main" val="1614185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551543" y="1984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a:latin typeface="Cambria" panose="02040503050406030204" pitchFamily="18" charset="0"/>
                <a:ea typeface="Cambria" panose="02040503050406030204" pitchFamily="18" charset="0"/>
              </a:rPr>
              <a:t>Hardware and Software Details:</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903382"/>
            <a:ext cx="10668000" cy="5679979"/>
          </a:xfrm>
          <a:prstGeom prst="rect">
            <a:avLst/>
          </a:prstGeom>
          <a:noFill/>
          <a:ln>
            <a:noFill/>
          </a:ln>
        </p:spPr>
        <p:txBody>
          <a:bodyPr spcFirstLastPara="1" wrap="square" lIns="91425" tIns="45700" rIns="91425" bIns="45700" anchor="t" anchorCtr="0">
            <a:normAutofit/>
          </a:bodyPr>
          <a:lstStyle/>
          <a:p>
            <a:pPr algn="just"/>
            <a:r>
              <a:rPr lang="en-IN">
                <a:latin typeface="Cambria" panose="02040503050406030204" pitchFamily="18" charset="0"/>
                <a:ea typeface="Cambria" panose="02040503050406030204" pitchFamily="18" charset="0"/>
              </a:rPr>
              <a:t>Software: Python 3.x, pandas, numpy, xlsxwriter; OS‑agnostic.</a:t>
            </a:r>
          </a:p>
          <a:p>
            <a:pPr algn="just"/>
            <a:endParaRPr lang="en-IN">
              <a:latin typeface="Cambria" panose="02040503050406030204" pitchFamily="18" charset="0"/>
              <a:ea typeface="Cambria" panose="02040503050406030204" pitchFamily="18" charset="0"/>
            </a:endParaRPr>
          </a:p>
          <a:p>
            <a:pPr algn="just"/>
            <a:r>
              <a:rPr lang="en-IN">
                <a:latin typeface="Cambria" panose="02040503050406030204" pitchFamily="18" charset="0"/>
                <a:ea typeface="Cambria" panose="02040503050406030204" pitchFamily="18" charset="0"/>
              </a:rPr>
              <a:t>Hardware: Any laptop/desktop (≥ 8 GB RAM).</a:t>
            </a:r>
          </a:p>
          <a:p>
            <a:pPr algn="just"/>
            <a:endParaRPr lang="en-IN">
              <a:latin typeface="Cambria" panose="02040503050406030204" pitchFamily="18" charset="0"/>
              <a:ea typeface="Cambria" panose="02040503050406030204" pitchFamily="18" charset="0"/>
            </a:endParaRPr>
          </a:p>
          <a:p>
            <a:pPr algn="just"/>
            <a:r>
              <a:rPr lang="en-IN">
                <a:latin typeface="Cambria" panose="02040503050406030204" pitchFamily="18" charset="0"/>
                <a:ea typeface="Cambria" panose="02040503050406030204" pitchFamily="18" charset="0"/>
              </a:rPr>
              <a:t>Data: ZIP of registrations</a:t>
            </a:r>
          </a:p>
        </p:txBody>
      </p:sp>
    </p:spTree>
    <p:extLst>
      <p:ext uri="{BB962C8B-B14F-4D97-AF65-F5344CB8AC3E}">
        <p14:creationId xmlns:p14="http://schemas.microsoft.com/office/powerpoint/2010/main" val="3338832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465242"/>
            <a:ext cx="10668000" cy="4630757"/>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IN">
                <a:latin typeface="Cambria" panose="02040503050406030204" pitchFamily="18" charset="0"/>
                <a:ea typeface="Cambria" panose="02040503050406030204" pitchFamily="18" charset="0"/>
              </a:rPr>
              <a:t>-</a:t>
            </a:r>
            <a:endParaRPr dirty="0">
              <a:latin typeface="Cambria" panose="02040503050406030204" pitchFamily="18" charset="0"/>
              <a:ea typeface="Cambria" panose="02040503050406030204" pitchFamily="18" charset="0"/>
            </a:endParaRPr>
          </a:p>
        </p:txBody>
      </p:sp>
      <p:graphicFrame>
        <p:nvGraphicFramePr>
          <p:cNvPr id="2" name="Table 1">
            <a:extLst>
              <a:ext uri="{FF2B5EF4-FFF2-40B4-BE49-F238E27FC236}">
                <a16:creationId xmlns:a16="http://schemas.microsoft.com/office/drawing/2014/main" id="{C776D77A-788B-20F4-4D6D-D54C6472BCBB}"/>
              </a:ext>
            </a:extLst>
          </p:cNvPr>
          <p:cNvGraphicFramePr>
            <a:graphicFrameLocks noGrp="1"/>
          </p:cNvGraphicFramePr>
          <p:nvPr>
            <p:extLst>
              <p:ext uri="{D42A27DB-BD31-4B8C-83A1-F6EECF244321}">
                <p14:modId xmlns:p14="http://schemas.microsoft.com/office/powerpoint/2010/main" val="1214701099"/>
              </p:ext>
            </p:extLst>
          </p:nvPr>
        </p:nvGraphicFramePr>
        <p:xfrm>
          <a:off x="812800" y="1575412"/>
          <a:ext cx="10668000" cy="4139588"/>
        </p:xfrm>
        <a:graphic>
          <a:graphicData uri="http://schemas.openxmlformats.org/drawingml/2006/table">
            <a:tbl>
              <a:tblPr/>
              <a:tblGrid>
                <a:gridCol w="1778000">
                  <a:extLst>
                    <a:ext uri="{9D8B030D-6E8A-4147-A177-3AD203B41FA5}">
                      <a16:colId xmlns:a16="http://schemas.microsoft.com/office/drawing/2014/main" val="3639161484"/>
                    </a:ext>
                  </a:extLst>
                </a:gridCol>
                <a:gridCol w="1778000">
                  <a:extLst>
                    <a:ext uri="{9D8B030D-6E8A-4147-A177-3AD203B41FA5}">
                      <a16:colId xmlns:a16="http://schemas.microsoft.com/office/drawing/2014/main" val="2670350250"/>
                    </a:ext>
                  </a:extLst>
                </a:gridCol>
                <a:gridCol w="1778000">
                  <a:extLst>
                    <a:ext uri="{9D8B030D-6E8A-4147-A177-3AD203B41FA5}">
                      <a16:colId xmlns:a16="http://schemas.microsoft.com/office/drawing/2014/main" val="990173380"/>
                    </a:ext>
                  </a:extLst>
                </a:gridCol>
                <a:gridCol w="1778000">
                  <a:extLst>
                    <a:ext uri="{9D8B030D-6E8A-4147-A177-3AD203B41FA5}">
                      <a16:colId xmlns:a16="http://schemas.microsoft.com/office/drawing/2014/main" val="410500591"/>
                    </a:ext>
                  </a:extLst>
                </a:gridCol>
                <a:gridCol w="1778000">
                  <a:extLst>
                    <a:ext uri="{9D8B030D-6E8A-4147-A177-3AD203B41FA5}">
                      <a16:colId xmlns:a16="http://schemas.microsoft.com/office/drawing/2014/main" val="2958003618"/>
                    </a:ext>
                  </a:extLst>
                </a:gridCol>
                <a:gridCol w="1778000">
                  <a:extLst>
                    <a:ext uri="{9D8B030D-6E8A-4147-A177-3AD203B41FA5}">
                      <a16:colId xmlns:a16="http://schemas.microsoft.com/office/drawing/2014/main" val="1198688523"/>
                    </a:ext>
                  </a:extLst>
                </a:gridCol>
              </a:tblGrid>
              <a:tr h="470408">
                <a:tc>
                  <a:txBody>
                    <a:bodyPr/>
                    <a:lstStyle/>
                    <a:p>
                      <a:pPr>
                        <a:buNone/>
                      </a:pPr>
                      <a:r>
                        <a:rPr lang="en-IN"/>
                        <a:t>Task</a:t>
                      </a:r>
                    </a:p>
                  </a:txBody>
                  <a:tcPr anchor="ctr">
                    <a:lnL>
                      <a:noFill/>
                    </a:lnL>
                    <a:lnR>
                      <a:noFill/>
                    </a:lnR>
                    <a:lnT>
                      <a:noFill/>
                    </a:lnT>
                    <a:lnB>
                      <a:noFill/>
                    </a:lnB>
                    <a:noFill/>
                  </a:tcPr>
                </a:tc>
                <a:tc>
                  <a:txBody>
                    <a:bodyPr/>
                    <a:lstStyle/>
                    <a:p>
                      <a:pPr>
                        <a:buNone/>
                      </a:pPr>
                      <a:r>
                        <a:rPr lang="en-IN"/>
                        <a:t>Week 1-3</a:t>
                      </a:r>
                    </a:p>
                  </a:txBody>
                  <a:tcPr anchor="ctr">
                    <a:lnL>
                      <a:noFill/>
                    </a:lnL>
                    <a:lnR>
                      <a:noFill/>
                    </a:lnR>
                    <a:lnT>
                      <a:noFill/>
                    </a:lnT>
                    <a:lnB>
                      <a:noFill/>
                    </a:lnB>
                    <a:noFill/>
                  </a:tcPr>
                </a:tc>
                <a:tc>
                  <a:txBody>
                    <a:bodyPr/>
                    <a:lstStyle/>
                    <a:p>
                      <a:pPr>
                        <a:buNone/>
                      </a:pPr>
                      <a:r>
                        <a:rPr lang="en-IN"/>
                        <a:t>Week 4-5</a:t>
                      </a:r>
                    </a:p>
                  </a:txBody>
                  <a:tcPr anchor="ctr">
                    <a:lnL>
                      <a:noFill/>
                    </a:lnL>
                    <a:lnR>
                      <a:noFill/>
                    </a:lnR>
                    <a:lnT>
                      <a:noFill/>
                    </a:lnT>
                    <a:lnB>
                      <a:noFill/>
                    </a:lnB>
                    <a:noFill/>
                  </a:tcPr>
                </a:tc>
                <a:tc>
                  <a:txBody>
                    <a:bodyPr/>
                    <a:lstStyle/>
                    <a:p>
                      <a:pPr>
                        <a:buNone/>
                      </a:pPr>
                      <a:r>
                        <a:rPr lang="en-IN"/>
                        <a:t>Week 6-8</a:t>
                      </a:r>
                    </a:p>
                  </a:txBody>
                  <a:tcPr anchor="ctr">
                    <a:lnL>
                      <a:noFill/>
                    </a:lnL>
                    <a:lnR>
                      <a:noFill/>
                    </a:lnR>
                    <a:lnT>
                      <a:noFill/>
                    </a:lnT>
                    <a:lnB>
                      <a:noFill/>
                    </a:lnB>
                    <a:noFill/>
                  </a:tcPr>
                </a:tc>
                <a:tc>
                  <a:txBody>
                    <a:bodyPr/>
                    <a:lstStyle/>
                    <a:p>
                      <a:pPr>
                        <a:buNone/>
                      </a:pPr>
                      <a:r>
                        <a:rPr lang="en-IN"/>
                        <a:t>Week 9-10</a:t>
                      </a:r>
                    </a:p>
                  </a:txBody>
                  <a:tcPr anchor="ctr">
                    <a:lnL>
                      <a:noFill/>
                    </a:lnL>
                    <a:lnR>
                      <a:noFill/>
                    </a:lnR>
                    <a:lnT>
                      <a:noFill/>
                    </a:lnT>
                    <a:lnB>
                      <a:noFill/>
                    </a:lnB>
                    <a:noFill/>
                  </a:tcPr>
                </a:tc>
                <a:tc>
                  <a:txBody>
                    <a:bodyPr/>
                    <a:lstStyle/>
                    <a:p>
                      <a:pPr>
                        <a:buNone/>
                      </a:pPr>
                      <a:r>
                        <a:rPr lang="en-IN"/>
                        <a:t>Week 11-12</a:t>
                      </a:r>
                    </a:p>
                  </a:txBody>
                  <a:tcPr anchor="ctr">
                    <a:lnL>
                      <a:noFill/>
                    </a:lnL>
                    <a:lnR>
                      <a:noFill/>
                    </a:lnR>
                    <a:lnT>
                      <a:noFill/>
                    </a:lnT>
                    <a:lnB>
                      <a:noFill/>
                    </a:lnB>
                    <a:noFill/>
                  </a:tcPr>
                </a:tc>
                <a:extLst>
                  <a:ext uri="{0D108BD9-81ED-4DB2-BD59-A6C34878D82A}">
                    <a16:rowId xmlns:a16="http://schemas.microsoft.com/office/drawing/2014/main" val="3884951201"/>
                  </a:ext>
                </a:extLst>
              </a:tr>
              <a:tr h="799693">
                <a:tc>
                  <a:txBody>
                    <a:bodyPr/>
                    <a:lstStyle/>
                    <a:p>
                      <a:pPr>
                        <a:buNone/>
                      </a:pPr>
                      <a:r>
                        <a:rPr lang="en-IN"/>
                        <a:t>Requirement Gathering</a:t>
                      </a:r>
                    </a:p>
                  </a:txBody>
                  <a:tcPr anchor="ctr">
                    <a:lnL>
                      <a:noFill/>
                    </a:lnL>
                    <a:lnR>
                      <a:noFill/>
                    </a:lnR>
                    <a:lnT>
                      <a:noFill/>
                    </a:lnT>
                    <a:lnB>
                      <a:noFill/>
                    </a:lnB>
                    <a:noFill/>
                  </a:tcPr>
                </a:tc>
                <a:tc>
                  <a:txBody>
                    <a:bodyPr/>
                    <a:lstStyle/>
                    <a:p>
                      <a:pPr>
                        <a:buNone/>
                      </a:pPr>
                      <a:r>
                        <a:rPr lang="en-IN"/>
                        <a:t>████████</a:t>
                      </a:r>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597666993"/>
                  </a:ext>
                </a:extLst>
              </a:tr>
              <a:tr h="470408">
                <a:tc>
                  <a:txBody>
                    <a:bodyPr/>
                    <a:lstStyle/>
                    <a:p>
                      <a:pPr>
                        <a:buNone/>
                      </a:pPr>
                      <a:r>
                        <a:rPr lang="en-IN"/>
                        <a:t>Design &amp; Planning</a:t>
                      </a:r>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r>
                        <a:rPr lang="en-IN"/>
                        <a:t>████████</a:t>
                      </a:r>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106771367"/>
                  </a:ext>
                </a:extLst>
              </a:tr>
              <a:tr h="799693">
                <a:tc>
                  <a:txBody>
                    <a:bodyPr/>
                    <a:lstStyle/>
                    <a:p>
                      <a:pPr>
                        <a:buNone/>
                      </a:pPr>
                      <a:r>
                        <a:rPr lang="en-IN"/>
                        <a:t>Implementation (GA)</a:t>
                      </a:r>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r>
                        <a:rPr lang="en-IN"/>
                        <a:t>████████</a:t>
                      </a:r>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702280773"/>
                  </a:ext>
                </a:extLst>
              </a:tr>
              <a:tr h="799693">
                <a:tc>
                  <a:txBody>
                    <a:bodyPr/>
                    <a:lstStyle/>
                    <a:p>
                      <a:pPr>
                        <a:buNone/>
                      </a:pPr>
                      <a:r>
                        <a:rPr lang="en-IN"/>
                        <a:t>Testing &amp; Optimization</a:t>
                      </a:r>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r>
                        <a:rPr lang="en-IN"/>
                        <a:t>████████</a:t>
                      </a:r>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75982740"/>
                  </a:ext>
                </a:extLst>
              </a:tr>
              <a:tr h="799693">
                <a:tc>
                  <a:txBody>
                    <a:bodyPr/>
                    <a:lstStyle/>
                    <a:p>
                      <a:pPr>
                        <a:buNone/>
                      </a:pPr>
                      <a:r>
                        <a:rPr lang="en-IN"/>
                        <a:t>Deployment &amp; Review</a:t>
                      </a:r>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r>
                        <a:rPr lang="en-IN"/>
                        <a:t>████████</a:t>
                      </a:r>
                    </a:p>
                  </a:txBody>
                  <a:tcPr anchor="ctr">
                    <a:lnL>
                      <a:noFill/>
                    </a:lnL>
                    <a:lnR>
                      <a:noFill/>
                    </a:lnR>
                    <a:lnT>
                      <a:noFill/>
                    </a:lnT>
                    <a:lnB>
                      <a:noFill/>
                    </a:lnB>
                    <a:noFill/>
                  </a:tcPr>
                </a:tc>
                <a:extLst>
                  <a:ext uri="{0D108BD9-81ED-4DB2-BD59-A6C34878D82A}">
                    <a16:rowId xmlns:a16="http://schemas.microsoft.com/office/drawing/2014/main" val="4199272750"/>
                  </a:ext>
                </a:extLst>
              </a:tr>
            </a:tbl>
          </a:graphicData>
        </a:graphic>
      </p:graphicFrame>
      <p:sp>
        <p:nvSpPr>
          <p:cNvPr id="4" name="TextBox 3">
            <a:extLst>
              <a:ext uri="{FF2B5EF4-FFF2-40B4-BE49-F238E27FC236}">
                <a16:creationId xmlns:a16="http://schemas.microsoft.com/office/drawing/2014/main" id="{8EB56244-075A-1FAE-23F2-B64C03D09374}"/>
              </a:ext>
            </a:extLst>
          </p:cNvPr>
          <p:cNvSpPr txBox="1"/>
          <p:nvPr/>
        </p:nvSpPr>
        <p:spPr>
          <a:xfrm>
            <a:off x="2796295" y="1157465"/>
            <a:ext cx="6701009" cy="738664"/>
          </a:xfrm>
          <a:prstGeom prst="rect">
            <a:avLst/>
          </a:prstGeom>
          <a:noFill/>
        </p:spPr>
        <p:txBody>
          <a:bodyPr wrap="square">
            <a:spAutoFit/>
          </a:bodyPr>
          <a:lstStyle/>
          <a:p>
            <a:pPr eaLnBrk="0" fontAlgn="base" hangingPunct="0">
              <a:spcBef>
                <a:spcPct val="0"/>
              </a:spcBef>
              <a:spcAft>
                <a:spcPct val="0"/>
              </a:spcAft>
              <a:buClrTx/>
            </a:pPr>
            <a:r>
              <a:rPr lang="en-US" altLang="en-US">
                <a:solidFill>
                  <a:schemeClr val="tx1"/>
                </a:solidFill>
                <a:latin typeface="Times New Roman" panose="02020603050405020304" pitchFamily="18" charset="0"/>
                <a:cs typeface="Times New Roman" panose="02020603050405020304" pitchFamily="18" charset="0"/>
              </a:rPr>
              <a:t>✅                                   ✅                                 ✅</a:t>
            </a:r>
          </a:p>
          <a:p>
            <a:pPr eaLnBrk="0" fontAlgn="base" hangingPunct="0">
              <a:spcBef>
                <a:spcPct val="0"/>
              </a:spcBef>
              <a:spcAft>
                <a:spcPct val="0"/>
              </a:spcAft>
              <a:buClrTx/>
            </a:pPr>
            <a:endParaRPr lang="en-US" altLang="en-US">
              <a:solidFill>
                <a:schemeClr val="tx1"/>
              </a:solidFill>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pPr>
            <a:endParaRPr lang="en-US" altLang="en-US" sz="140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9890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936435"/>
            <a:ext cx="10668000" cy="4935556"/>
          </a:xfrm>
          <a:prstGeom prst="rect">
            <a:avLst/>
          </a:prstGeom>
          <a:noFill/>
          <a:ln>
            <a:noFill/>
          </a:ln>
        </p:spPr>
        <p:txBody>
          <a:bodyPr spcFirstLastPara="1" wrap="square" lIns="91425" tIns="45700" rIns="91425" bIns="45700" anchor="t" anchorCtr="0">
            <a:normAutofit fontScale="85000" lnSpcReduction="10000"/>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algn="just"/>
            <a:r>
              <a:rPr lang="en-IN"/>
              <a:t>[1] A. Shah, “Timetable Generation System,” GitHub Repository, 2023. [Online]. Available: </a:t>
            </a:r>
            <a:r>
              <a:rPr lang="en-IN">
                <a:hlinkClick r:id="rId3"/>
              </a:rPr>
              <a:t>https://github.com/abhayshah0305/TimetableGenerationSystem</a:t>
            </a:r>
            <a:endParaRPr lang="en-IN"/>
          </a:p>
          <a:p>
            <a:pPr algn="just"/>
            <a:r>
              <a:rPr lang="en-IN"/>
              <a:t>[2] PROxZIMA, “TimetableScheduler: An intelligent timetable generator using Genetic Algorithm,” GitHub Repository, 2022. [Online]. Available: </a:t>
            </a:r>
            <a:r>
              <a:rPr lang="en-IN">
                <a:hlinkClick r:id="rId4"/>
              </a:rPr>
              <a:t>https://github.com/PROxZIMA/TimetableScheduler</a:t>
            </a:r>
            <a:endParaRPr lang="en-IN"/>
          </a:p>
          <a:p>
            <a:pPr algn="just"/>
            <a:r>
              <a:rPr lang="en-IN"/>
              <a:t>[3] S. Kristiansen, “Models and Algorithms for School Timetabling - A Constraint Programming Approach,” Ph.D. dissertation, Univ. Bergen, Norway, 2004.</a:t>
            </a:r>
          </a:p>
          <a:p>
            <a:pPr algn="just"/>
            <a:r>
              <a:rPr lang="en-IN"/>
              <a:t>[4] A. Kumar and B. Patel, “A study on automatic timetable generator,” Int. J. Res. Appl. Sci. Eng. Technol., vol. 6, no. 5, pp. 123-135, May 2025.</a:t>
            </a:r>
          </a:p>
          <a:p>
            <a:pPr algn="just"/>
            <a:r>
              <a:rPr lang="en-IN"/>
              <a:t>[5] J. Smith, “Algorithm for creating a school timetable,” Stack Overflow Discussion, Feb. 2010. [Online]. Available: </a:t>
            </a:r>
            <a:r>
              <a:rPr lang="en-IN">
                <a:hlinkClick r:id="rId5"/>
              </a:rPr>
              <a:t>https://stackoverflow.com/questions/2177836/algorithm-for-creating-a-school-timetable</a:t>
            </a:r>
            <a:endParaRPr lang="en-IN"/>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583</TotalTime>
  <Words>853</Words>
  <Application>Microsoft Office PowerPoint</Application>
  <PresentationFormat>Widescreen</PresentationFormat>
  <Paragraphs>87</Paragraphs>
  <Slides>13</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Cambria</vt:lpstr>
      <vt:lpstr>Times New Roman</vt:lpstr>
      <vt:lpstr>Verdana</vt:lpstr>
      <vt:lpstr>Bioinformatics</vt:lpstr>
      <vt:lpstr>SUMMER-TERM TIMETABLE GENERATION</vt:lpstr>
      <vt:lpstr> Algorithm details</vt:lpstr>
      <vt:lpstr>PowerPoint Presentation</vt:lpstr>
      <vt:lpstr>PowerPoint Presentation</vt:lpstr>
      <vt:lpstr>PowerPoint Presentation</vt:lpstr>
      <vt:lpstr>PowerPoint Presentation</vt:lpstr>
      <vt:lpstr>PowerPoint Presentation</vt:lpstr>
      <vt:lpstr>Source Code Details and Implementation with Live Demo</vt:lpstr>
      <vt:lpstr>Modules: </vt:lpstr>
      <vt:lpstr>Hardware and Software Details:</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keshave gowda</cp:lastModifiedBy>
  <cp:revision>58</cp:revision>
  <dcterms:modified xsi:type="dcterms:W3CDTF">2025-09-25T10:17:57Z</dcterms:modified>
</cp:coreProperties>
</file>