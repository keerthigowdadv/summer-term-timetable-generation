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0"/>
  </p:notesMasterIdLst>
  <p:sldIdLst>
    <p:sldId id="256" r:id="rId2"/>
    <p:sldId id="269" r:id="rId3"/>
    <p:sldId id="257" r:id="rId4"/>
    <p:sldId id="281" r:id="rId5"/>
    <p:sldId id="282" r:id="rId6"/>
    <p:sldId id="273" r:id="rId7"/>
    <p:sldId id="271" r:id="rId8"/>
    <p:sldId id="283" r:id="rId9"/>
    <p:sldId id="268" r:id="rId10"/>
    <p:sldId id="270" r:id="rId11"/>
    <p:sldId id="274" r:id="rId12"/>
    <p:sldId id="275" r:id="rId13"/>
    <p:sldId id="276" r:id="rId14"/>
    <p:sldId id="279" r:id="rId15"/>
    <p:sldId id="278" r:id="rId16"/>
    <p:sldId id="280" r:id="rId17"/>
    <p:sldId id="265" r:id="rId18"/>
    <p:sldId id="26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30" autoAdjust="0"/>
    <p:restoredTop sz="94660"/>
  </p:normalViewPr>
  <p:slideViewPr>
    <p:cSldViewPr snapToGrid="0">
      <p:cViewPr>
        <p:scale>
          <a:sx n="63" d="100"/>
          <a:sy n="63" d="100"/>
        </p:scale>
        <p:origin x="64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KeerthiGowdadv/Summer-Term-Timetable-Generation"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373751" y="1069102"/>
            <a:ext cx="11220449" cy="974804"/>
          </a:xfrm>
          <a:prstGeom prst="rect">
            <a:avLst/>
          </a:prstGeom>
          <a:noFill/>
          <a:ln>
            <a:noFill/>
          </a:ln>
        </p:spPr>
        <p:txBody>
          <a:bodyPr spcFirstLastPara="1" wrap="square" lIns="91425" tIns="45700" rIns="91425" bIns="45700" anchor="ctr" anchorCtr="0">
            <a:noAutofit/>
          </a:bodyPr>
          <a:lstStyle/>
          <a:p>
            <a:pPr algn="ctr"/>
            <a:r>
              <a:rPr lang="en-US" dirty="0">
                <a:solidFill>
                  <a:schemeClr val="tx1"/>
                </a:solidFill>
              </a:rPr>
              <a:t>Summer-Term TimeTable Generation</a:t>
            </a: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r>
              <a:rPr lang="en-GB" sz="1800">
                <a:latin typeface="Cambria" panose="02040503050406030204" pitchFamily="18" charset="0"/>
                <a:ea typeface="Cambria" panose="02040503050406030204" pitchFamily="18" charset="0"/>
              </a:rPr>
              <a:t>: COM_33</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a:solidFill>
                  <a:srgbClr val="17365D"/>
                </a:solidFill>
                <a:latin typeface="Cambria" panose="02040503050406030204" pitchFamily="18" charset="0"/>
                <a:ea typeface="Cambria" panose="02040503050406030204" pitchFamily="18" charset="0"/>
                <a:cs typeface="Verdana"/>
                <a:sym typeface="Verdana"/>
              </a:rPr>
              <a:t>Dr.</a:t>
            </a:r>
            <a:r>
              <a:rPr lang="en-GB" sz="1700" b="1">
                <a:solidFill>
                  <a:srgbClr val="17365D"/>
                </a:solidFill>
                <a:latin typeface="Cambria" panose="02040503050406030204" pitchFamily="18" charset="0"/>
                <a:ea typeface="Cambria" panose="02040503050406030204" pitchFamily="18" charset="0"/>
                <a:cs typeface="Verdana"/>
                <a:sym typeface="Verdana"/>
              </a:rPr>
              <a:t> Sandeep Albert Mathias</a:t>
            </a:r>
            <a:r>
              <a:rPr lang="en-GB" sz="1700" b="1" i="0" u="none" strike="noStrike" cap="none">
                <a:solidFill>
                  <a:srgbClr val="17365D"/>
                </a:solidFill>
                <a:latin typeface="Cambria" panose="02040503050406030204" pitchFamily="18" charset="0"/>
                <a:ea typeface="Cambria" panose="02040503050406030204" pitchFamily="18" charset="0"/>
                <a:cs typeface="Verdana"/>
                <a:sym typeface="Verdana"/>
              </a:rPr>
              <a:t> </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991578704"/>
              </p:ext>
            </p:extLst>
          </p:nvPr>
        </p:nvGraphicFramePr>
        <p:xfrm>
          <a:off x="553347" y="2721840"/>
          <a:ext cx="5418675" cy="274326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a:t>20221C0M0100</a:t>
                      </a:r>
                      <a:endParaRPr lang="en-IN" sz="1800" u="none" strike="noStrike" cap="none" dirty="0"/>
                    </a:p>
                    <a:p>
                      <a:pPr marL="0" marR="0" lvl="0" indent="0" algn="ctr" rtl="0">
                        <a:spcBef>
                          <a:spcPts val="0"/>
                        </a:spcBef>
                        <a:spcAft>
                          <a:spcPts val="0"/>
                        </a:spcAft>
                        <a:buFont typeface="+mj-lt"/>
                        <a:buNone/>
                      </a:pPr>
                      <a:r>
                        <a:rPr lang="en-IN" sz="1800" u="none" strike="noStrike" cap="none"/>
                        <a:t>20221COM0108</a:t>
                      </a:r>
                      <a:endParaRPr lang="en-IN" sz="1800" u="none" strike="noStrike" cap="none" dirty="0"/>
                    </a:p>
                    <a:p>
                      <a:pPr marL="0" marR="0" lvl="0" indent="0" algn="ctr" rtl="0">
                        <a:spcBef>
                          <a:spcPts val="0"/>
                        </a:spcBef>
                        <a:spcAft>
                          <a:spcPts val="0"/>
                        </a:spcAft>
                        <a:buFont typeface="+mj-lt"/>
                        <a:buNone/>
                      </a:pPr>
                      <a:r>
                        <a:rPr lang="en-IN" sz="1800" u="none" strike="noStrike" cap="none"/>
                        <a:t>20221COM0111</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a:t>Keerthi D V</a:t>
                      </a:r>
                    </a:p>
                    <a:p>
                      <a:pPr marL="0" marR="0" lvl="0" indent="0" algn="ctr" rtl="0">
                        <a:spcBef>
                          <a:spcPts val="0"/>
                        </a:spcBef>
                        <a:spcAft>
                          <a:spcPts val="0"/>
                        </a:spcAft>
                        <a:buNone/>
                      </a:pPr>
                      <a:r>
                        <a:rPr lang="en-IN" sz="1800" u="none" strike="noStrike" cap="none"/>
                        <a:t>Vidya S</a:t>
                      </a:r>
                    </a:p>
                    <a:p>
                      <a:pPr marL="0" marR="0" lvl="0" indent="0" algn="ctr" rtl="0">
                        <a:spcBef>
                          <a:spcPts val="0"/>
                        </a:spcBef>
                        <a:spcAft>
                          <a:spcPts val="0"/>
                        </a:spcAft>
                        <a:buNone/>
                      </a:pPr>
                      <a:r>
                        <a:rPr lang="en-IN" sz="1800" u="none" strike="noStrike" cap="none"/>
                        <a:t>Nishmitha K G</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algn="ctr">
              <a:spcBef>
                <a:spcPts val="310"/>
              </a:spcBef>
              <a:buClr>
                <a:srgbClr val="17365D"/>
              </a:buClr>
              <a:buSzPct val="100000"/>
            </a:pPr>
            <a:r>
              <a:rPr lang="en-GB" sz="1800" b="1" dirty="0">
                <a:solidFill>
                  <a:srgbClr val="17365D"/>
                </a:solidFill>
                <a:latin typeface="Cambria"/>
                <a:ea typeface="Cambria"/>
                <a:cs typeface="Verdana"/>
                <a:sym typeface="Verdana"/>
              </a:rPr>
              <a:t>Final Viva</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649705" y="4533900"/>
            <a:ext cx="11600210"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a:solidFill>
                  <a:schemeClr val="accent1"/>
                </a:solidFill>
                <a:latin typeface="Cambria" panose="02040503050406030204" pitchFamily="18" charset="0"/>
                <a:ea typeface="Cambria" panose="02040503050406030204" pitchFamily="18" charset="0"/>
                <a:cs typeface="Verdana"/>
                <a:sym typeface="Verdana"/>
              </a:rPr>
              <a:t>Name </a:t>
            </a: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of the Program: Information Science and Engineering</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a:solidFill>
                  <a:schemeClr val="tx1"/>
                </a:solidFill>
                <a:latin typeface="Cambria" panose="02040503050406030204" pitchFamily="18" charset="0"/>
                <a:ea typeface="Cambria" panose="02040503050406030204" pitchFamily="18" charset="0"/>
                <a:cs typeface="Verdana"/>
                <a:sym typeface="Verdana"/>
              </a:rPr>
              <a:t>Dr.Pallavi R</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a:t>
            </a:r>
            <a:r>
              <a:rPr lang="en-US" sz="1800" b="1" i="0" u="none" strike="noStrike" cap="none">
                <a:solidFill>
                  <a:schemeClr val="accent1"/>
                </a:solidFill>
                <a:latin typeface="Cambria" panose="02040503050406030204" pitchFamily="18" charset="0"/>
                <a:ea typeface="Cambria" panose="02040503050406030204" pitchFamily="18" charset="0"/>
                <a:cs typeface="Verdana"/>
                <a:sym typeface="Verdana"/>
              </a:rPr>
              <a:t>: </a:t>
            </a:r>
            <a:r>
              <a:rPr lang="en-US" sz="1800" b="1" i="0" u="none" strike="noStrike" cap="none">
                <a:solidFill>
                  <a:schemeClr val="tx1"/>
                </a:solidFill>
                <a:latin typeface="Cambria" panose="02040503050406030204" pitchFamily="18" charset="0"/>
                <a:ea typeface="Cambria" panose="02040503050406030204" pitchFamily="18" charset="0"/>
                <a:cs typeface="Verdana"/>
                <a:sym typeface="Verdana"/>
              </a:rPr>
              <a:t>Mrs.J Benitha Christinal</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PSCS_399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indent="-190500" algn="just">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Organization :  </a:t>
            </a:r>
            <a:r>
              <a:rPr lang="en-US">
                <a:latin typeface="Times New Roman" panose="02020603050405020304" pitchFamily="18" charset="0"/>
                <a:ea typeface="Cambria" panose="02040503050406030204" pitchFamily="18" charset="0"/>
                <a:cs typeface="Times New Roman" panose="02020603050405020304" pitchFamily="18" charset="0"/>
              </a:rPr>
              <a:t>Presidency University,Bengaluru</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lnSpc>
                <a:spcPct val="200000"/>
              </a:lnSpc>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Category  : Software</a:t>
            </a:r>
          </a:p>
          <a:p>
            <a:pPr marL="342900" indent="-190500" algn="just">
              <a:lnSpc>
                <a:spcPct val="150000"/>
              </a:lnSpc>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Problem Description </a:t>
            </a:r>
            <a:r>
              <a:rPr lang="en-US">
                <a:latin typeface="Times New Roman" panose="02020603050405020304" pitchFamily="18" charset="0"/>
                <a:ea typeface="Cambria" panose="020405030504060302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To automatically generate a conflict-free summer-term timetable by analyzing student course registrations, detecting course conflicts, grouping non-overlapping courses, and assigning each section a suitable time slot, faculty, and room.</a:t>
            </a:r>
          </a:p>
          <a:p>
            <a:pPr marL="342900" lvl="0" indent="-190500">
              <a:lnSpc>
                <a:spcPct val="150000"/>
              </a:lnSpc>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a:latin typeface="Cambria"/>
                <a:ea typeface="Cambria"/>
              </a:rPr>
              <a:t>Problem Statement</a:t>
            </a:r>
          </a:p>
          <a:p>
            <a:pPr marL="495300" indent="-342900" algn="just">
              <a:lnSpc>
                <a:spcPct val="200000"/>
              </a:lnSpc>
              <a:spcBef>
                <a:spcPts val="0"/>
              </a:spcBef>
              <a:buFont typeface="Arial" panose="020B0604020202020204" pitchFamily="34" charset="0"/>
              <a:buChar char="•"/>
            </a:pPr>
            <a:r>
              <a:rPr lang="en-US">
                <a:latin typeface="Cambria"/>
                <a:ea typeface="Cambria"/>
              </a:rPr>
              <a:t>Objectives of Project</a:t>
            </a:r>
          </a:p>
          <a:p>
            <a:pPr marL="495300" indent="-342900" algn="just">
              <a:lnSpc>
                <a:spcPct val="200000"/>
              </a:lnSpc>
              <a:spcBef>
                <a:spcPts val="0"/>
              </a:spcBef>
              <a:buFont typeface="Arial" panose="020B0604020202020204" pitchFamily="34" charset="0"/>
              <a:buChar char="•"/>
            </a:pPr>
            <a:r>
              <a:rPr lang="en-US">
                <a:latin typeface="Cambria"/>
                <a:ea typeface="Cambria"/>
              </a:rPr>
              <a:t>Scope of Project</a:t>
            </a:r>
            <a:endParaRPr lang="en-US" dirty="0">
              <a:latin typeface="Cambria"/>
              <a:ea typeface="Cambria"/>
            </a:endParaRPr>
          </a:p>
          <a:p>
            <a:pPr marL="495300" lvl="0" indent="-342900" algn="just">
              <a:lnSpc>
                <a:spcPct val="200000"/>
              </a:lnSpc>
              <a:spcBef>
                <a:spcPts val="0"/>
              </a:spcBef>
              <a:buFont typeface="Arial" panose="020B0604020202020204" pitchFamily="34" charset="0"/>
              <a:buChar char="•"/>
            </a:pPr>
            <a:r>
              <a:rPr lang="en-US" dirty="0">
                <a:latin typeface="Cambria"/>
                <a:ea typeface="Cambria"/>
              </a:rPr>
              <a:t>Analysis of Problem Statement</a:t>
            </a:r>
          </a:p>
          <a:p>
            <a:pPr marL="495300" indent="-342900" algn="just">
              <a:lnSpc>
                <a:spcPct val="200000"/>
              </a:lnSpc>
              <a:spcBef>
                <a:spcPts val="0"/>
              </a:spcBef>
              <a:buFont typeface="Arial" panose="020B0604020202020204" pitchFamily="34" charset="0"/>
              <a:buChar char="•"/>
            </a:pPr>
            <a:r>
              <a:rPr lang="en-US" dirty="0">
                <a:latin typeface="Cambria"/>
                <a:ea typeface="Cambria"/>
              </a:rPr>
              <a:t>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indent="-342900" algn="just">
              <a:lnSpc>
                <a:spcPct val="200000"/>
              </a:lnSpc>
              <a:spcBef>
                <a:spcPts val="0"/>
              </a:spcBef>
              <a:buFont typeface="Arial" panose="020B0604020202020204" pitchFamily="34" charset="0"/>
              <a:buChar char="•"/>
            </a:pPr>
            <a:r>
              <a:rPr lang="en-US" dirty="0">
                <a:latin typeface="Cambria"/>
                <a:ea typeface="Cambria"/>
              </a:rPr>
              <a:t>Results and Discussion</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829BB-A920-26F1-26D2-B71D9FC0C6DE}"/>
              </a:ext>
            </a:extLst>
          </p:cNvPr>
          <p:cNvSpPr>
            <a:spLocks noGrp="1"/>
          </p:cNvSpPr>
          <p:nvPr>
            <p:ph type="title"/>
          </p:nvPr>
        </p:nvSpPr>
        <p:spPr/>
        <p:txBody>
          <a:bodyPr/>
          <a:lstStyle/>
          <a:p>
            <a:r>
              <a:rPr lang="en-IN"/>
              <a:t>Objectives</a:t>
            </a:r>
          </a:p>
        </p:txBody>
      </p:sp>
      <p:sp>
        <p:nvSpPr>
          <p:cNvPr id="3" name="Text Placeholder 2">
            <a:extLst>
              <a:ext uri="{FF2B5EF4-FFF2-40B4-BE49-F238E27FC236}">
                <a16:creationId xmlns:a16="http://schemas.microsoft.com/office/drawing/2014/main" id="{9D7BADBC-3356-BC8E-4A3C-1C2EFFBFAA6F}"/>
              </a:ext>
            </a:extLst>
          </p:cNvPr>
          <p:cNvSpPr>
            <a:spLocks noGrp="1"/>
          </p:cNvSpPr>
          <p:nvPr>
            <p:ph type="body" idx="1"/>
          </p:nvPr>
        </p:nvSpPr>
        <p:spPr/>
        <p:txBody>
          <a:bodyPr>
            <a:normAutofit fontScale="92500" lnSpcReduction="20000"/>
          </a:bodyPr>
          <a:lstStyle/>
          <a:p>
            <a:r>
              <a:rPr lang="en-US">
                <a:latin typeface="Times New Roman" panose="02020603050405020304" pitchFamily="18" charset="0"/>
                <a:cs typeface="Times New Roman" panose="02020603050405020304" pitchFamily="18" charset="0"/>
              </a:rPr>
              <a:t>The primary objectives of the Summer-Term Timetable Generation System are:</a:t>
            </a:r>
          </a:p>
          <a:p>
            <a:r>
              <a:rPr lang="en-US" b="1">
                <a:latin typeface="Times New Roman" panose="02020603050405020304" pitchFamily="18" charset="0"/>
                <a:cs typeface="Times New Roman" panose="02020603050405020304" pitchFamily="18" charset="0"/>
              </a:rPr>
              <a:t>To automate the timetable generation process</a:t>
            </a:r>
            <a:r>
              <a:rPr lang="en-US">
                <a:latin typeface="Times New Roman" panose="02020603050405020304" pitchFamily="18" charset="0"/>
                <a:cs typeface="Times New Roman" panose="02020603050405020304" pitchFamily="18" charset="0"/>
              </a:rPr>
              <a:t> by eliminating manual scheduling efforts and reducing human errors.</a:t>
            </a:r>
          </a:p>
          <a:p>
            <a:r>
              <a:rPr lang="en-US" b="1">
                <a:latin typeface="Times New Roman" panose="02020603050405020304" pitchFamily="18" charset="0"/>
                <a:cs typeface="Times New Roman" panose="02020603050405020304" pitchFamily="18" charset="0"/>
              </a:rPr>
              <a:t>To ensure a clash-free timetable</a:t>
            </a:r>
            <a:r>
              <a:rPr lang="en-US">
                <a:latin typeface="Times New Roman" panose="02020603050405020304" pitchFamily="18" charset="0"/>
                <a:cs typeface="Times New Roman" panose="02020603050405020304" pitchFamily="18" charset="0"/>
              </a:rPr>
              <a:t> by detecting and resolving course overlaps based on student registrations.</a:t>
            </a:r>
          </a:p>
          <a:p>
            <a:r>
              <a:rPr lang="en-US" b="1">
                <a:latin typeface="Times New Roman" panose="02020603050405020304" pitchFamily="18" charset="0"/>
                <a:cs typeface="Times New Roman" panose="02020603050405020304" pitchFamily="18" charset="0"/>
              </a:rPr>
              <a:t>To identify course conflicts</a:t>
            </a:r>
            <a:r>
              <a:rPr lang="en-US">
                <a:latin typeface="Times New Roman" panose="02020603050405020304" pitchFamily="18" charset="0"/>
                <a:cs typeface="Times New Roman" panose="02020603050405020304" pitchFamily="18" charset="0"/>
              </a:rPr>
              <a:t> using a graph-based approach and group non-conflicting subjects into suitable time slots.</a:t>
            </a:r>
          </a:p>
          <a:p>
            <a:r>
              <a:rPr lang="en-US" b="1">
                <a:latin typeface="Times New Roman" panose="02020603050405020304" pitchFamily="18" charset="0"/>
                <a:cs typeface="Times New Roman" panose="02020603050405020304" pitchFamily="18" charset="0"/>
              </a:rPr>
              <a:t>To divide courses into sections</a:t>
            </a:r>
            <a:r>
              <a:rPr lang="en-US">
                <a:latin typeface="Times New Roman" panose="02020603050405020304" pitchFamily="18" charset="0"/>
                <a:cs typeface="Times New Roman" panose="02020603050405020304" pitchFamily="18" charset="0"/>
              </a:rPr>
              <a:t> based on student strength and assign faculty members to each section uniquely.</a:t>
            </a:r>
          </a:p>
          <a:p>
            <a:r>
              <a:rPr lang="en-US" b="1">
                <a:latin typeface="Times New Roman" panose="02020603050405020304" pitchFamily="18" charset="0"/>
                <a:cs typeface="Times New Roman" panose="02020603050405020304" pitchFamily="18" charset="0"/>
              </a:rPr>
              <a:t>To allocate classrooms efficiently</a:t>
            </a:r>
            <a:r>
              <a:rPr lang="en-US">
                <a:latin typeface="Times New Roman" panose="02020603050405020304" pitchFamily="18" charset="0"/>
                <a:cs typeface="Times New Roman" panose="02020603050405020304" pitchFamily="18" charset="0"/>
              </a:rPr>
              <a:t>, ensuring no two sections share the same room during the same time slot.</a:t>
            </a:r>
          </a:p>
          <a:p>
            <a:r>
              <a:rPr lang="en-US" b="1">
                <a:latin typeface="Times New Roman" panose="02020603050405020304" pitchFamily="18" charset="0"/>
                <a:cs typeface="Times New Roman" panose="02020603050405020304" pitchFamily="18" charset="0"/>
              </a:rPr>
              <a:t>To present the generated timetable</a:t>
            </a:r>
            <a:r>
              <a:rPr lang="en-US">
                <a:latin typeface="Times New Roman" panose="02020603050405020304" pitchFamily="18" charset="0"/>
                <a:cs typeface="Times New Roman" panose="02020603050405020304" pitchFamily="18" charset="0"/>
              </a:rPr>
              <a:t> in a user-friendly digital format using a web interface built with React.</a:t>
            </a:r>
          </a:p>
          <a:p>
            <a:r>
              <a:rPr lang="en-US" b="1">
                <a:latin typeface="Times New Roman" panose="02020603050405020304" pitchFamily="18" charset="0"/>
                <a:cs typeface="Times New Roman" panose="02020603050405020304" pitchFamily="18" charset="0"/>
              </a:rPr>
              <a:t>To accommodate varying course enrollments</a:t>
            </a:r>
            <a:r>
              <a:rPr lang="en-US">
                <a:latin typeface="Times New Roman" panose="02020603050405020304" pitchFamily="18" charset="0"/>
                <a:cs typeface="Times New Roman" panose="02020603050405020304" pitchFamily="18" charset="0"/>
              </a:rPr>
              <a:t> and remove MOOC and low-registration courses to streamline scheduling complexity.</a:t>
            </a:r>
          </a:p>
          <a:p>
            <a:endParaRPr lang="en-IN"/>
          </a:p>
        </p:txBody>
      </p:sp>
    </p:spTree>
    <p:extLst>
      <p:ext uri="{BB962C8B-B14F-4D97-AF65-F5344CB8AC3E}">
        <p14:creationId xmlns:p14="http://schemas.microsoft.com/office/powerpoint/2010/main" val="3158925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DEE65-2EAE-2434-4A41-C450CE5DC1D6}"/>
              </a:ext>
            </a:extLst>
          </p:cNvPr>
          <p:cNvSpPr>
            <a:spLocks noGrp="1"/>
          </p:cNvSpPr>
          <p:nvPr>
            <p:ph type="title"/>
          </p:nvPr>
        </p:nvSpPr>
        <p:spPr/>
        <p:txBody>
          <a:bodyPr/>
          <a:lstStyle/>
          <a:p>
            <a:r>
              <a:rPr lang="en-IN"/>
              <a:t>Scope of the Project</a:t>
            </a:r>
          </a:p>
        </p:txBody>
      </p:sp>
      <p:sp>
        <p:nvSpPr>
          <p:cNvPr id="3" name="Text Placeholder 2">
            <a:extLst>
              <a:ext uri="{FF2B5EF4-FFF2-40B4-BE49-F238E27FC236}">
                <a16:creationId xmlns:a16="http://schemas.microsoft.com/office/drawing/2014/main" id="{4138C4E5-973B-C258-1F6A-2EF1A1747902}"/>
              </a:ext>
            </a:extLst>
          </p:cNvPr>
          <p:cNvSpPr>
            <a:spLocks noGrp="1"/>
          </p:cNvSpPr>
          <p:nvPr>
            <p:ph type="body" idx="1"/>
          </p:nvPr>
        </p:nvSpPr>
        <p:spPr/>
        <p:txBody>
          <a:bodyPr>
            <a:normAutofit/>
          </a:bodyPr>
          <a:lstStyle/>
          <a:p>
            <a:r>
              <a:rPr lang="en-US">
                <a:latin typeface="Times New Roman" panose="02020603050405020304" pitchFamily="18" charset="0"/>
                <a:cs typeface="Times New Roman" panose="02020603050405020304" pitchFamily="18" charset="0"/>
              </a:rPr>
              <a:t>Reading course registration data from the dataset</a:t>
            </a:r>
          </a:p>
          <a:p>
            <a:r>
              <a:rPr lang="en-US">
                <a:latin typeface="Times New Roman" panose="02020603050405020304" pitchFamily="18" charset="0"/>
                <a:cs typeface="Times New Roman" panose="02020603050405020304" pitchFamily="18" charset="0"/>
              </a:rPr>
              <a:t>Filtering out MOOC and low-enrollment (&lt;21 students) courses</a:t>
            </a:r>
          </a:p>
          <a:p>
            <a:r>
              <a:rPr lang="en-US">
                <a:latin typeface="Times New Roman" panose="02020603050405020304" pitchFamily="18" charset="0"/>
                <a:cs typeface="Times New Roman" panose="02020603050405020304" pitchFamily="18" charset="0"/>
              </a:rPr>
              <a:t>Identifying conflicts using student-course relationships</a:t>
            </a:r>
          </a:p>
          <a:p>
            <a:r>
              <a:rPr lang="en-US">
                <a:latin typeface="Times New Roman" panose="02020603050405020304" pitchFamily="18" charset="0"/>
                <a:cs typeface="Times New Roman" panose="02020603050405020304" pitchFamily="18" charset="0"/>
              </a:rPr>
              <a:t>Grouping non-conflicting courses via greedy graph coloring</a:t>
            </a:r>
          </a:p>
          <a:p>
            <a:r>
              <a:rPr lang="en-US">
                <a:latin typeface="Times New Roman" panose="02020603050405020304" pitchFamily="18" charset="0"/>
                <a:cs typeface="Times New Roman" panose="02020603050405020304" pitchFamily="18" charset="0"/>
              </a:rPr>
              <a:t>Assigning each group to fixed time slots (Monday–Friday, 9 AM–4 PM)</a:t>
            </a:r>
          </a:p>
          <a:p>
            <a:r>
              <a:rPr lang="en-US">
                <a:latin typeface="Times New Roman" panose="02020603050405020304" pitchFamily="18" charset="0"/>
                <a:cs typeface="Times New Roman" panose="02020603050405020304" pitchFamily="18" charset="0"/>
              </a:rPr>
              <a:t>Automatically generating sections based on maximum capacity (60 students per section)</a:t>
            </a:r>
          </a:p>
          <a:p>
            <a:r>
              <a:rPr lang="en-US">
                <a:latin typeface="Times New Roman" panose="02020603050405020304" pitchFamily="18" charset="0"/>
                <a:cs typeface="Times New Roman" panose="02020603050405020304" pitchFamily="18" charset="0"/>
              </a:rPr>
              <a:t>Assigning faculty and room numbers to each section</a:t>
            </a:r>
          </a:p>
          <a:p>
            <a:r>
              <a:rPr lang="en-US">
                <a:latin typeface="Times New Roman" panose="02020603050405020304" pitchFamily="18" charset="0"/>
                <a:cs typeface="Times New Roman" panose="02020603050405020304" pitchFamily="18" charset="0"/>
              </a:rPr>
              <a:t>Displaying the final timetable through a responsive React-based web UI</a:t>
            </a:r>
          </a:p>
          <a:p>
            <a:r>
              <a:rPr lang="en-US">
                <a:latin typeface="Times New Roman" panose="02020603050405020304" pitchFamily="18" charset="0"/>
                <a:cs typeface="Times New Roman" panose="02020603050405020304" pitchFamily="18" charset="0"/>
              </a:rPr>
              <a:t>Ensuring that no student has clashing classes</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8709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48512"/>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26874"/>
          </a:xfrm>
          <a:prstGeom prst="rect">
            <a:avLst/>
          </a:prstGeom>
          <a:noFill/>
          <a:ln>
            <a:noFill/>
          </a:ln>
        </p:spPr>
        <p:txBody>
          <a:bodyPr spcFirstLastPara="1" wrap="square" lIns="91425" tIns="45700" rIns="91425" bIns="45700" anchor="t" anchorCtr="0">
            <a:normAutofit/>
          </a:bodyPr>
          <a:lstStyle/>
          <a:p>
            <a:r>
              <a:rPr lang="en-US">
                <a:latin typeface="Times New Roman" panose="02020603050405020304" pitchFamily="18" charset="0"/>
                <a:cs typeface="Times New Roman" panose="02020603050405020304" pitchFamily="18" charset="0"/>
              </a:rPr>
              <a:t>The problem is not just about placing courses into time slots; it involves:</a:t>
            </a:r>
          </a:p>
          <a:p>
            <a:r>
              <a:rPr lang="en-US">
                <a:latin typeface="Times New Roman" panose="02020603050405020304" pitchFamily="18" charset="0"/>
                <a:cs typeface="Times New Roman" panose="02020603050405020304" pitchFamily="18" charset="0"/>
              </a:rPr>
              <a:t>Understanding student course patterns</a:t>
            </a:r>
          </a:p>
          <a:p>
            <a:r>
              <a:rPr lang="en-US">
                <a:latin typeface="Times New Roman" panose="02020603050405020304" pitchFamily="18" charset="0"/>
                <a:cs typeface="Times New Roman" panose="02020603050405020304" pitchFamily="18" charset="0"/>
              </a:rPr>
              <a:t>Detecting shared enrollments and avoiding clashes</a:t>
            </a:r>
          </a:p>
          <a:p>
            <a:r>
              <a:rPr lang="en-US">
                <a:latin typeface="Times New Roman" panose="02020603050405020304" pitchFamily="18" charset="0"/>
                <a:cs typeface="Times New Roman" panose="02020603050405020304" pitchFamily="18" charset="0"/>
              </a:rPr>
              <a:t>Managing finite resources (slots, faculty, rooms)</a:t>
            </a:r>
          </a:p>
          <a:p>
            <a:r>
              <a:rPr lang="en-US">
                <a:latin typeface="Times New Roman" panose="02020603050405020304" pitchFamily="18" charset="0"/>
                <a:cs typeface="Times New Roman" panose="02020603050405020304" pitchFamily="18" charset="0"/>
              </a:rPr>
              <a:t>Automating section creation based on capacity</a:t>
            </a:r>
          </a:p>
          <a:p>
            <a:r>
              <a:rPr lang="en-US">
                <a:latin typeface="Times New Roman" panose="02020603050405020304" pitchFamily="18" charset="0"/>
                <a:cs typeface="Times New Roman" panose="02020603050405020304" pitchFamily="18" charset="0"/>
              </a:rPr>
              <a:t>Producing a timetable that meets academic constraints</a:t>
            </a:r>
          </a:p>
          <a:p>
            <a:r>
              <a:rPr lang="en-US">
                <a:latin typeface="Times New Roman" panose="02020603050405020304" pitchFamily="18" charset="0"/>
                <a:cs typeface="Times New Roman" panose="02020603050405020304" pitchFamily="18" charset="0"/>
              </a:rPr>
              <a:t>Therefore, the project requires algorithmic thinking (graph coloring), data structures (sets, dictionaries), and practical constraints, making it a </a:t>
            </a:r>
            <a:r>
              <a:rPr lang="en-US" b="1">
                <a:latin typeface="Times New Roman" panose="02020603050405020304" pitchFamily="18" charset="0"/>
                <a:cs typeface="Times New Roman" panose="02020603050405020304" pitchFamily="18" charset="0"/>
              </a:rPr>
              <a:t>real-world optimization and scheduling problem</a:t>
            </a:r>
            <a:r>
              <a:rPr lang="en-US">
                <a:latin typeface="Times New Roman" panose="02020603050405020304" pitchFamily="18" charset="0"/>
                <a:cs typeface="Times New Roman" panose="02020603050405020304" pitchFamily="18" charset="0"/>
              </a:rPr>
              <a:t>.</a:t>
            </a: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92500" lnSpcReduction="10000"/>
          </a:bodyPr>
          <a:lstStyle/>
          <a:p>
            <a:pPr marL="342900" lvl="0" indent="-190500" algn="just">
              <a:spcBef>
                <a:spcPts val="0"/>
              </a:spcBef>
              <a:buSzPct val="100000"/>
              <a:buNone/>
            </a:pPr>
            <a:r>
              <a:rPr lang="en-US" b="1" dirty="0">
                <a:latin typeface="Cambria" panose="02040503050406030204" pitchFamily="18" charset="0"/>
                <a:ea typeface="Cambria" panose="02040503050406030204" pitchFamily="18" charset="0"/>
              </a:rPr>
              <a:t>Technology Stack Components: </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76200" indent="0">
              <a:buNone/>
            </a:pPr>
            <a:r>
              <a:rPr lang="en-US" b="1">
                <a:latin typeface="Times New Roman" panose="02020603050405020304" pitchFamily="18" charset="0"/>
                <a:cs typeface="Times New Roman" panose="02020603050405020304" pitchFamily="18" charset="0"/>
              </a:rPr>
              <a:t>1.Python (Backend / Processing Layer)</a:t>
            </a:r>
          </a:p>
          <a:p>
            <a:r>
              <a:rPr lang="en-US">
                <a:latin typeface="Times New Roman" panose="02020603050405020304" pitchFamily="18" charset="0"/>
                <a:cs typeface="Times New Roman" panose="02020603050405020304" pitchFamily="18" charset="0"/>
              </a:rPr>
              <a:t>Reads the student registration data</a:t>
            </a:r>
          </a:p>
          <a:p>
            <a:r>
              <a:rPr lang="en-US">
                <a:latin typeface="Times New Roman" panose="02020603050405020304" pitchFamily="18" charset="0"/>
                <a:cs typeface="Times New Roman" panose="02020603050405020304" pitchFamily="18" charset="0"/>
              </a:rPr>
              <a:t>Identifies conflicts between courses</a:t>
            </a:r>
          </a:p>
          <a:p>
            <a:r>
              <a:rPr lang="en-US">
                <a:latin typeface="Times New Roman" panose="02020603050405020304" pitchFamily="18" charset="0"/>
                <a:cs typeface="Times New Roman" panose="02020603050405020304" pitchFamily="18" charset="0"/>
              </a:rPr>
              <a:t>Groups courses without clashes</a:t>
            </a:r>
          </a:p>
          <a:p>
            <a:r>
              <a:rPr lang="en-US">
                <a:latin typeface="Times New Roman" panose="02020603050405020304" pitchFamily="18" charset="0"/>
                <a:cs typeface="Times New Roman" panose="02020603050405020304" pitchFamily="18" charset="0"/>
              </a:rPr>
              <a:t>Creates sections and assigns faculty and rooms</a:t>
            </a:r>
            <a:br>
              <a:rPr lang="en-US">
                <a:latin typeface="Times New Roman" panose="02020603050405020304" pitchFamily="18" charset="0"/>
                <a:cs typeface="Times New Roman" panose="02020603050405020304" pitchFamily="18" charset="0"/>
              </a:rPr>
            </a:br>
            <a:br>
              <a:rPr lang="en-US">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a:p>
            <a:pPr marL="76200" indent="0">
              <a:buNone/>
            </a:pPr>
            <a:r>
              <a:rPr lang="en-US" b="1">
                <a:latin typeface="Times New Roman" panose="02020603050405020304" pitchFamily="18" charset="0"/>
                <a:cs typeface="Times New Roman" panose="02020603050405020304" pitchFamily="18" charset="0"/>
              </a:rPr>
              <a:t>2.React.js (Frontend / Presentation Layer)</a:t>
            </a:r>
          </a:p>
          <a:p>
            <a:r>
              <a:rPr lang="en-US">
                <a:latin typeface="Times New Roman" panose="02020603050405020304" pitchFamily="18" charset="0"/>
                <a:cs typeface="Times New Roman" panose="02020603050405020304" pitchFamily="18" charset="0"/>
              </a:rPr>
              <a:t>Displays the generated timetable in a clean table format on the browser</a:t>
            </a:r>
          </a:p>
          <a:p>
            <a:r>
              <a:rPr lang="en-US">
                <a:latin typeface="Times New Roman" panose="02020603050405020304" pitchFamily="18" charset="0"/>
                <a:cs typeface="Times New Roman" panose="02020603050405020304" pitchFamily="18" charset="0"/>
              </a:rPr>
              <a:t>Allows the user to view timeslots, courses, rooms, and faculty details</a:t>
            </a:r>
            <a:br>
              <a:rPr lang="en-US">
                <a:latin typeface="Times New Roman" panose="02020603050405020304" pitchFamily="18" charset="0"/>
                <a:cs typeface="Times New Roman" panose="02020603050405020304" pitchFamily="18" charset="0"/>
              </a:rPr>
            </a:br>
            <a:br>
              <a:rPr lang="en-US">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a:p>
            <a:pPr marL="342900" lvl="0" indent="-190500" algn="just">
              <a:lnSpc>
                <a:spcPct val="150000"/>
              </a:lnSpc>
              <a:spcBef>
                <a:spcPts val="0"/>
              </a:spcBef>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EFEAA-D185-DE0F-841C-122FC39A178C}"/>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788FC7D7-6517-0CA5-9DCA-DBBDBC874D96}"/>
              </a:ext>
            </a:extLst>
          </p:cNvPr>
          <p:cNvSpPr>
            <a:spLocks noGrp="1"/>
          </p:cNvSpPr>
          <p:nvPr>
            <p:ph type="body" idx="1"/>
          </p:nvPr>
        </p:nvSpPr>
        <p:spPr/>
        <p:txBody>
          <a:bodyPr/>
          <a:lstStyle/>
          <a:p>
            <a:pPr marL="76200" indent="0">
              <a:buNone/>
            </a:pPr>
            <a:r>
              <a:rPr lang="en-US" b="1">
                <a:latin typeface="Times New Roman" panose="02020603050405020304" pitchFamily="18" charset="0"/>
                <a:cs typeface="Times New Roman" panose="02020603050405020304" pitchFamily="18" charset="0"/>
              </a:rPr>
              <a:t>3.Dataset File (Data Layer)</a:t>
            </a:r>
          </a:p>
          <a:p>
            <a:r>
              <a:rPr lang="en-US">
                <a:latin typeface="Times New Roman" panose="02020603050405020304" pitchFamily="18" charset="0"/>
                <a:cs typeface="Times New Roman" panose="02020603050405020304" pitchFamily="18" charset="0"/>
              </a:rPr>
              <a:t>A text file that stores student course registrations</a:t>
            </a:r>
          </a:p>
          <a:p>
            <a:r>
              <a:rPr lang="en-US">
                <a:latin typeface="Times New Roman" panose="02020603050405020304" pitchFamily="18" charset="0"/>
                <a:cs typeface="Times New Roman" panose="02020603050405020304" pitchFamily="18" charset="0"/>
              </a:rPr>
              <a:t>Used as input to generate the timetable</a:t>
            </a:r>
            <a:br>
              <a:rPr lang="en-US">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a:p>
            <a:pPr marL="76200" indent="0">
              <a:buNone/>
            </a:pPr>
            <a:r>
              <a:rPr lang="en-US">
                <a:latin typeface="Times New Roman" panose="02020603050405020304" pitchFamily="18" charset="0"/>
                <a:cs typeface="Times New Roman" panose="02020603050405020304" pitchFamily="18" charset="0"/>
              </a:rPr>
              <a:t>DATA (dataset.txt)</a:t>
            </a:r>
          </a:p>
          <a:p>
            <a:pPr marL="76200" indent="0">
              <a:buNone/>
            </a:pPr>
            <a:r>
              <a:rPr lang="en-US">
                <a:latin typeface="Times New Roman" panose="02020603050405020304" pitchFamily="18" charset="0"/>
                <a:cs typeface="Times New Roman" panose="02020603050405020304" pitchFamily="18" charset="0"/>
              </a:rPr>
              <a:t>       ↓</a:t>
            </a:r>
          </a:p>
          <a:p>
            <a:pPr marL="76200" indent="0">
              <a:buNone/>
            </a:pPr>
            <a:r>
              <a:rPr lang="en-US">
                <a:latin typeface="Times New Roman" panose="02020603050405020304" pitchFamily="18" charset="0"/>
                <a:cs typeface="Times New Roman" panose="02020603050405020304" pitchFamily="18" charset="0"/>
              </a:rPr>
              <a:t>PYTHON (generates timetable - backend logic)</a:t>
            </a:r>
          </a:p>
          <a:p>
            <a:pPr marL="76200" indent="0">
              <a:buNone/>
            </a:pPr>
            <a:r>
              <a:rPr lang="en-US">
                <a:latin typeface="Times New Roman" panose="02020603050405020304" pitchFamily="18" charset="0"/>
                <a:cs typeface="Times New Roman" panose="02020603050405020304" pitchFamily="18" charset="0"/>
              </a:rPr>
              <a:t>       ↓</a:t>
            </a:r>
          </a:p>
          <a:p>
            <a:pPr marL="76200" indent="0">
              <a:buNone/>
            </a:pPr>
            <a:r>
              <a:rPr lang="en-US">
                <a:latin typeface="Times New Roman" panose="02020603050405020304" pitchFamily="18" charset="0"/>
                <a:cs typeface="Times New Roman" panose="02020603050405020304" pitchFamily="18" charset="0"/>
              </a:rPr>
              <a:t>REACT (shows timetable - frontend UI)</a:t>
            </a:r>
          </a:p>
          <a:p>
            <a:endParaRPr lang="en-IN"/>
          </a:p>
        </p:txBody>
      </p:sp>
    </p:spTree>
    <p:extLst>
      <p:ext uri="{BB962C8B-B14F-4D97-AF65-F5344CB8AC3E}">
        <p14:creationId xmlns:p14="http://schemas.microsoft.com/office/powerpoint/2010/main" val="3176788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None/>
            </a:pPr>
            <a:r>
              <a:rPr lang="en-IN">
                <a:hlinkClick r:id="rId3"/>
              </a:rPr>
              <a:t>KeerthiGowdadv/Summer-Term-Timetable-Generation</a:t>
            </a:r>
            <a:endParaRPr lang="en-US" dirty="0"/>
          </a:p>
        </p:txBody>
      </p:sp>
    </p:spTree>
    <p:extLst>
      <p:ext uri="{BB962C8B-B14F-4D97-AF65-F5344CB8AC3E}">
        <p14:creationId xmlns:p14="http://schemas.microsoft.com/office/powerpoint/2010/main" val="285635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3"/>
          <a:stretch>
            <a:fillRect/>
          </a:stretch>
        </p:blipFill>
        <p:spPr>
          <a:xfrm>
            <a:off x="1223173" y="992778"/>
            <a:ext cx="10045717" cy="5033554"/>
          </a:xfrm>
          <a:prstGeom prst="rect">
            <a:avLst/>
          </a:prstGeom>
        </p:spPr>
      </p:pic>
      <p:pic>
        <p:nvPicPr>
          <p:cNvPr id="3" name="Picture 2" descr="A grid of black rectangles&#10;&#10;AI-generated content may be incorrect.">
            <a:extLst>
              <a:ext uri="{FF2B5EF4-FFF2-40B4-BE49-F238E27FC236}">
                <a16:creationId xmlns:a16="http://schemas.microsoft.com/office/drawing/2014/main" id="{6EAF8194-7B64-F03A-7A7C-0C4D6674A7FE}"/>
              </a:ext>
            </a:extLst>
          </p:cNvPr>
          <p:cNvPicPr>
            <a:picLocks noChangeAspect="1"/>
          </p:cNvPicPr>
          <p:nvPr/>
        </p:nvPicPr>
        <p:blipFill>
          <a:blip r:embed="rId4"/>
          <a:stretch>
            <a:fillRect/>
          </a:stretch>
        </p:blipFill>
        <p:spPr>
          <a:xfrm>
            <a:off x="495300" y="866775"/>
            <a:ext cx="11201400" cy="5124450"/>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3BD046C-06FB-ED9D-FBC7-B7F53DE7BA92}"/>
              </a:ext>
            </a:extLst>
          </p:cNvPr>
          <p:cNvSpPr>
            <a:spLocks noGrp="1"/>
          </p:cNvSpPr>
          <p:nvPr>
            <p:ph type="body" idx="1"/>
          </p:nvPr>
        </p:nvSpPr>
        <p:spPr/>
        <p:txBody>
          <a:bodyPr/>
          <a:lstStyle/>
          <a:p>
            <a:endParaRPr lang="en-US"/>
          </a:p>
        </p:txBody>
      </p:sp>
      <p:pic>
        <p:nvPicPr>
          <p:cNvPr id="4" name="Picture 3" descr="A white background with black squares&#10;&#10;AI-generated content may be incorrect.">
            <a:extLst>
              <a:ext uri="{FF2B5EF4-FFF2-40B4-BE49-F238E27FC236}">
                <a16:creationId xmlns:a16="http://schemas.microsoft.com/office/drawing/2014/main" id="{3B763D46-6520-DBF9-A205-702E3A76F97E}"/>
              </a:ext>
            </a:extLst>
          </p:cNvPr>
          <p:cNvPicPr>
            <a:picLocks noChangeAspect="1"/>
          </p:cNvPicPr>
          <p:nvPr/>
        </p:nvPicPr>
        <p:blipFill>
          <a:blip r:embed="rId2"/>
          <a:stretch>
            <a:fillRect/>
          </a:stretch>
        </p:blipFill>
        <p:spPr>
          <a:xfrm>
            <a:off x="738188" y="495094"/>
            <a:ext cx="10739436" cy="5796375"/>
          </a:xfrm>
          <a:prstGeom prst="rect">
            <a:avLst/>
          </a:prstGeom>
        </p:spPr>
      </p:pic>
    </p:spTree>
    <p:extLst>
      <p:ext uri="{BB962C8B-B14F-4D97-AF65-F5344CB8AC3E}">
        <p14:creationId xmlns:p14="http://schemas.microsoft.com/office/powerpoint/2010/main" val="2086043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F424619-BB53-C3D8-FD9B-2C28521502C3}"/>
              </a:ext>
            </a:extLst>
          </p:cNvPr>
          <p:cNvSpPr>
            <a:spLocks noGrp="1"/>
          </p:cNvSpPr>
          <p:nvPr>
            <p:ph type="body" idx="1"/>
          </p:nvPr>
        </p:nvSpPr>
        <p:spPr>
          <a:xfrm>
            <a:off x="812800" y="1018903"/>
            <a:ext cx="10668000" cy="5077098"/>
          </a:xfrm>
        </p:spPr>
        <p:txBody>
          <a:bodyPr>
            <a:normAutofit/>
          </a:bodyPr>
          <a:lstStyle/>
          <a:p>
            <a:pPr marL="76200" indent="0">
              <a:buNone/>
            </a:pPr>
            <a:r>
              <a:rPr lang="en-US" sz="800" dirty="0"/>
              <a:t>.</a:t>
            </a:r>
          </a:p>
        </p:txBody>
      </p:sp>
      <p:pic>
        <p:nvPicPr>
          <p:cNvPr id="4" name="Picture 3" descr="A white background with black rectangles&#10;&#10;AI-generated content may be incorrect.">
            <a:extLst>
              <a:ext uri="{FF2B5EF4-FFF2-40B4-BE49-F238E27FC236}">
                <a16:creationId xmlns:a16="http://schemas.microsoft.com/office/drawing/2014/main" id="{8154D695-3283-27F3-D407-5910CE1B2EFE}"/>
              </a:ext>
            </a:extLst>
          </p:cNvPr>
          <p:cNvPicPr>
            <a:picLocks noChangeAspect="1"/>
          </p:cNvPicPr>
          <p:nvPr/>
        </p:nvPicPr>
        <p:blipFill>
          <a:blip r:embed="rId2"/>
          <a:stretch>
            <a:fillRect/>
          </a:stretch>
        </p:blipFill>
        <p:spPr>
          <a:xfrm>
            <a:off x="1762125" y="1857375"/>
            <a:ext cx="8667750" cy="3143250"/>
          </a:xfrm>
          <a:prstGeom prst="rect">
            <a:avLst/>
          </a:prstGeom>
        </p:spPr>
      </p:pic>
    </p:spTree>
    <p:extLst>
      <p:ext uri="{BB962C8B-B14F-4D97-AF65-F5344CB8AC3E}">
        <p14:creationId xmlns:p14="http://schemas.microsoft.com/office/powerpoint/2010/main" val="3635110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AE6C2-78BF-3F9D-F4C5-33BD324D29E1}"/>
              </a:ext>
            </a:extLst>
          </p:cNvPr>
          <p:cNvSpPr>
            <a:spLocks noGrp="1"/>
          </p:cNvSpPr>
          <p:nvPr>
            <p:ph type="title"/>
          </p:nvPr>
        </p:nvSpPr>
        <p:spPr/>
        <p:txBody>
          <a:bodyPr/>
          <a:lstStyle/>
          <a:p>
            <a:r>
              <a:rPr lang="en-US" dirty="0"/>
              <a:t>Result and Discussions</a:t>
            </a:r>
          </a:p>
        </p:txBody>
      </p:sp>
      <p:sp>
        <p:nvSpPr>
          <p:cNvPr id="4" name="TextBox 3">
            <a:extLst>
              <a:ext uri="{FF2B5EF4-FFF2-40B4-BE49-F238E27FC236}">
                <a16:creationId xmlns:a16="http://schemas.microsoft.com/office/drawing/2014/main" id="{BB2FB314-BD18-3CA9-A249-42BEAEA96398}"/>
              </a:ext>
            </a:extLst>
          </p:cNvPr>
          <p:cNvSpPr txBox="1"/>
          <p:nvPr/>
        </p:nvSpPr>
        <p:spPr>
          <a:xfrm>
            <a:off x="896306" y="1358163"/>
            <a:ext cx="10231868"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Times New Roman" panose="02020603050405020304" pitchFamily="18" charset="0"/>
                <a:cs typeface="Times New Roman" panose="02020603050405020304" pitchFamily="18" charset="0"/>
              </a:rPr>
              <a:t>The system successfully generated a complete and clash-free summer-term timetable by analyzing student registrations, removing unwanted courses, identifying course conflicts, and assigning suitable time slots, rooms, and faculty. The output was displayed through a React-based interface, making the timetable easy to view and understand.</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This project shows that automated timetable generation reduces manual effort, avoids errors, and ensures no student faces overlapping classes. However, the current system assumes fixed time slots and unlimited faculty availability. In the future, features such as faculty availability checks, lab scheduling, database integration, and PDF/Excel export options can be added to make the system more flexible and fully deployable.</a:t>
            </a:r>
          </a:p>
        </p:txBody>
      </p:sp>
    </p:spTree>
    <p:extLst>
      <p:ext uri="{BB962C8B-B14F-4D97-AF65-F5344CB8AC3E}">
        <p14:creationId xmlns:p14="http://schemas.microsoft.com/office/powerpoint/2010/main" val="1487476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94022F-7B48-8973-35BD-F696E1006FBC}"/>
              </a:ext>
            </a:extLst>
          </p:cNvPr>
          <p:cNvPicPr>
            <a:picLocks noChangeAspect="1"/>
          </p:cNvPicPr>
          <p:nvPr/>
        </p:nvPicPr>
        <p:blipFill>
          <a:blip r:embed="rId2"/>
          <a:stretch>
            <a:fillRect/>
          </a:stretch>
        </p:blipFill>
        <p:spPr>
          <a:xfrm>
            <a:off x="804124" y="1381759"/>
            <a:ext cx="10583752" cy="4619349"/>
          </a:xfrm>
          <a:prstGeom prst="rect">
            <a:avLst/>
          </a:prstGeom>
        </p:spPr>
      </p:pic>
    </p:spTree>
    <p:extLst>
      <p:ext uri="{BB962C8B-B14F-4D97-AF65-F5344CB8AC3E}">
        <p14:creationId xmlns:p14="http://schemas.microsoft.com/office/powerpoint/2010/main" val="2650366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C87CDF-D6B0-64BE-78AA-05DFC58CF363}"/>
              </a:ext>
            </a:extLst>
          </p:cNvPr>
          <p:cNvPicPr>
            <a:picLocks noChangeAspect="1"/>
          </p:cNvPicPr>
          <p:nvPr/>
        </p:nvPicPr>
        <p:blipFill>
          <a:blip r:embed="rId2"/>
          <a:stretch>
            <a:fillRect/>
          </a:stretch>
        </p:blipFill>
        <p:spPr>
          <a:xfrm>
            <a:off x="1329561" y="1094637"/>
            <a:ext cx="9084440" cy="4696563"/>
          </a:xfrm>
          <a:prstGeom prst="rect">
            <a:avLst/>
          </a:prstGeom>
        </p:spPr>
      </p:pic>
    </p:spTree>
    <p:extLst>
      <p:ext uri="{BB962C8B-B14F-4D97-AF65-F5344CB8AC3E}">
        <p14:creationId xmlns:p14="http://schemas.microsoft.com/office/powerpoint/2010/main" val="893754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82B3EE-124F-F1DE-3D54-68DACA9934FE}"/>
              </a:ext>
            </a:extLst>
          </p:cNvPr>
          <p:cNvPicPr>
            <a:picLocks noChangeAspect="1"/>
          </p:cNvPicPr>
          <p:nvPr/>
        </p:nvPicPr>
        <p:blipFill>
          <a:blip r:embed="rId2"/>
          <a:stretch>
            <a:fillRect/>
          </a:stretch>
        </p:blipFill>
        <p:spPr>
          <a:xfrm>
            <a:off x="1270000" y="1148080"/>
            <a:ext cx="9743440" cy="4307840"/>
          </a:xfrm>
          <a:prstGeom prst="rect">
            <a:avLst/>
          </a:prstGeom>
        </p:spPr>
      </p:pic>
    </p:spTree>
    <p:extLst>
      <p:ext uri="{BB962C8B-B14F-4D97-AF65-F5344CB8AC3E}">
        <p14:creationId xmlns:p14="http://schemas.microsoft.com/office/powerpoint/2010/main" val="1518621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756771" y="1075766"/>
            <a:ext cx="10668000" cy="4953000"/>
          </a:xfrm>
          <a:prstGeom prst="rect">
            <a:avLst/>
          </a:prstGeom>
          <a:noFill/>
          <a:ln>
            <a:noFill/>
          </a:ln>
        </p:spPr>
        <p:txBody>
          <a:bodyPr spcFirstLastPara="1" wrap="square" lIns="91425" tIns="45700" rIns="91425" bIns="45700" anchor="t" anchorCtr="0">
            <a:no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r>
              <a:rPr lang="en-IN" sz="1000" b="1" dirty="0"/>
              <a:t>[1]</a:t>
            </a:r>
            <a:r>
              <a:rPr lang="en-IN" sz="1000" dirty="0"/>
              <a:t> </a:t>
            </a:r>
            <a:r>
              <a:rPr lang="en-IN" sz="1000" dirty="0" err="1"/>
              <a:t>Dasari</a:t>
            </a:r>
            <a:r>
              <a:rPr lang="en-IN" sz="1000" dirty="0"/>
              <a:t>, C.A., Kumar, S.M., </a:t>
            </a:r>
            <a:r>
              <a:rPr lang="en-IN" sz="1000" dirty="0" err="1"/>
              <a:t>Arpitalaxmi</a:t>
            </a:r>
            <a:r>
              <a:rPr lang="en-IN" sz="1000" dirty="0"/>
              <a:t> and </a:t>
            </a:r>
            <a:r>
              <a:rPr lang="en-IN" sz="1000" dirty="0" err="1"/>
              <a:t>Thushara</a:t>
            </a:r>
            <a:r>
              <a:rPr lang="en-IN" sz="1000" dirty="0"/>
              <a:t>, M.G., 2024. Optimizing University Time Table Schedules for Smart Space Utilization. </a:t>
            </a:r>
            <a:r>
              <a:rPr lang="en-IN" sz="1000" i="1" dirty="0"/>
              <a:t>IEEE GCAT 2024</a:t>
            </a:r>
            <a:r>
              <a:rPr lang="en-IN" sz="1000" dirty="0"/>
              <a:t>, Amrita </a:t>
            </a:r>
            <a:r>
              <a:rPr lang="en-IN" sz="1000" dirty="0" err="1"/>
              <a:t>Vishwa</a:t>
            </a:r>
            <a:r>
              <a:rPr lang="en-IN" sz="1000" dirty="0"/>
              <a:t> Vidyapeetham, India.</a:t>
            </a:r>
          </a:p>
          <a:p>
            <a:r>
              <a:rPr lang="en-IN" sz="1000" b="1" dirty="0"/>
              <a:t>[2]</a:t>
            </a:r>
            <a:r>
              <a:rPr lang="en-IN" sz="1000" dirty="0"/>
              <a:t> </a:t>
            </a:r>
            <a:r>
              <a:rPr lang="en-IN" sz="1000" dirty="0" err="1"/>
              <a:t>Khokale</a:t>
            </a:r>
            <a:r>
              <a:rPr lang="en-IN" sz="1000" dirty="0"/>
              <a:t>, S.R., </a:t>
            </a:r>
            <a:r>
              <a:rPr lang="en-IN" sz="1000" dirty="0" err="1"/>
              <a:t>Jadhav</a:t>
            </a:r>
            <a:r>
              <a:rPr lang="en-IN" sz="1000" dirty="0"/>
              <a:t>, A., </a:t>
            </a:r>
            <a:r>
              <a:rPr lang="en-IN" sz="1000" dirty="0" err="1"/>
              <a:t>Chavan</a:t>
            </a:r>
            <a:r>
              <a:rPr lang="en-IN" sz="1000" dirty="0"/>
              <a:t>, R., </a:t>
            </a:r>
            <a:r>
              <a:rPr lang="en-IN" sz="1000" dirty="0" err="1"/>
              <a:t>Wani</a:t>
            </a:r>
            <a:r>
              <a:rPr lang="en-IN" sz="1000" dirty="0"/>
              <a:t>, S. and </a:t>
            </a:r>
            <a:r>
              <a:rPr lang="en-IN" sz="1000" dirty="0" err="1"/>
              <a:t>Iwanate</a:t>
            </a:r>
            <a:r>
              <a:rPr lang="en-IN" sz="1000" dirty="0"/>
              <a:t>, P., 2024. A Survey Paper on Timetable Generator Using AI Methods. </a:t>
            </a:r>
            <a:r>
              <a:rPr lang="en-IN" sz="1000" i="1" dirty="0"/>
              <a:t>IRJAEH Journal</a:t>
            </a:r>
            <a:r>
              <a:rPr lang="en-IN" sz="1000" dirty="0"/>
              <a:t>, Guru </a:t>
            </a:r>
            <a:r>
              <a:rPr lang="en-IN" sz="1000" dirty="0" err="1"/>
              <a:t>Gobind</a:t>
            </a:r>
            <a:r>
              <a:rPr lang="en-IN" sz="1000" dirty="0"/>
              <a:t> Singh College, Nashik, India.</a:t>
            </a:r>
          </a:p>
          <a:p>
            <a:r>
              <a:rPr lang="en-IN" sz="1000" b="1" dirty="0"/>
              <a:t>[3]</a:t>
            </a:r>
            <a:r>
              <a:rPr lang="en-IN" sz="1000" dirty="0"/>
              <a:t> Kumar, S., et al., 2024. Adaptive Scheduler: AI Optimization of Academic Timetable. </a:t>
            </a:r>
            <a:r>
              <a:rPr lang="en-IN" sz="1000" i="1" dirty="0"/>
              <a:t>IJSDR Journal 2024</a:t>
            </a:r>
            <a:r>
              <a:rPr lang="en-IN" sz="1000" dirty="0"/>
              <a:t>, CMR Institute of Technology, Bengaluru, India.</a:t>
            </a:r>
          </a:p>
          <a:p>
            <a:r>
              <a:rPr lang="en-IN" sz="1000" b="1" dirty="0"/>
              <a:t>[4]</a:t>
            </a:r>
            <a:r>
              <a:rPr lang="en-IN" sz="1000" dirty="0"/>
              <a:t> Indian Student Researchers, 2024. Automatic Timetable Generator. </a:t>
            </a:r>
            <a:r>
              <a:rPr lang="en-IN" sz="1000" i="1" dirty="0"/>
              <a:t>IARJSET Proceedings 2024</a:t>
            </a:r>
            <a:r>
              <a:rPr lang="en-IN" sz="1000" dirty="0"/>
              <a:t>, Indian Engineering College Authors.</a:t>
            </a:r>
          </a:p>
          <a:p>
            <a:r>
              <a:rPr lang="en-IN" sz="1000" b="1" dirty="0"/>
              <a:t>[5]</a:t>
            </a:r>
            <a:r>
              <a:rPr lang="en-IN" sz="1000" dirty="0"/>
              <a:t> Indian Researchers, 2024. Automatic Timetable Generator using Genetic Algorithm. </a:t>
            </a:r>
            <a:r>
              <a:rPr lang="en-IN" sz="1000" i="1" dirty="0"/>
              <a:t>Atlantis Press 2024</a:t>
            </a:r>
            <a:r>
              <a:rPr lang="en-IN" sz="1000" dirty="0"/>
              <a:t>, Indian Academic Institutions.</a:t>
            </a:r>
          </a:p>
          <a:p>
            <a:r>
              <a:rPr lang="en-IN" sz="1000" b="1" dirty="0"/>
              <a:t>[6]</a:t>
            </a:r>
            <a:r>
              <a:rPr lang="en-IN" sz="1000" dirty="0"/>
              <a:t> Kumar, A. and Sharma, P., 2023. University Course Timetable Scheduling using Metaheuristic Algorithms. </a:t>
            </a:r>
            <a:r>
              <a:rPr lang="en-IN" sz="1000" i="1" dirty="0"/>
              <a:t>IEEE ICACCS 2023</a:t>
            </a:r>
            <a:r>
              <a:rPr lang="en-IN" sz="1000" dirty="0"/>
              <a:t>, IIT Delhi, India.</a:t>
            </a:r>
          </a:p>
          <a:p>
            <a:r>
              <a:rPr lang="en-IN" sz="1000" b="1" dirty="0"/>
              <a:t>[7]</a:t>
            </a:r>
            <a:r>
              <a:rPr lang="en-IN" sz="1000" dirty="0"/>
              <a:t> </a:t>
            </a:r>
            <a:r>
              <a:rPr lang="en-IN" sz="1000" dirty="0" err="1"/>
              <a:t>Teja</a:t>
            </a:r>
            <a:r>
              <a:rPr lang="en-IN" sz="1000" dirty="0"/>
              <a:t>, R. and Agarwal, N., 2025. AI-Driven Summer Term Timetable Generation for Higher Education. </a:t>
            </a:r>
            <a:r>
              <a:rPr lang="en-IN" sz="1000" i="1" dirty="0"/>
              <a:t>IEEE ICCES 2025</a:t>
            </a:r>
            <a:r>
              <a:rPr lang="en-IN" sz="1000" dirty="0"/>
              <a:t>, NIT Warangal, India.</a:t>
            </a:r>
          </a:p>
          <a:p>
            <a:r>
              <a:rPr lang="en-IN" sz="1000" b="1" dirty="0"/>
              <a:t>[8]</a:t>
            </a:r>
            <a:r>
              <a:rPr lang="en-IN" sz="1000" dirty="0"/>
              <a:t> </a:t>
            </a:r>
            <a:r>
              <a:rPr lang="en-IN" sz="1000" dirty="0" err="1"/>
              <a:t>Patil</a:t>
            </a:r>
            <a:r>
              <a:rPr lang="en-IN" sz="1000" dirty="0"/>
              <a:t>, S. and </a:t>
            </a:r>
            <a:r>
              <a:rPr lang="en-IN" sz="1000" dirty="0" err="1"/>
              <a:t>Deepika</a:t>
            </a:r>
            <a:r>
              <a:rPr lang="en-IN" sz="1000" dirty="0"/>
              <a:t>, R., 2024. Automatic Timetable Generation using Genetic Algorithm in Indian Universities. </a:t>
            </a:r>
            <a:r>
              <a:rPr lang="en-IN" sz="1000" i="1" dirty="0"/>
              <a:t>IEEE ICECA 2024</a:t>
            </a:r>
            <a:r>
              <a:rPr lang="en-IN" sz="1000" dirty="0"/>
              <a:t>, </a:t>
            </a:r>
            <a:r>
              <a:rPr lang="en-IN" sz="1000" dirty="0" err="1"/>
              <a:t>Visvesvaraya</a:t>
            </a:r>
            <a:r>
              <a:rPr lang="en-IN" sz="1000" dirty="0"/>
              <a:t> Technological University, India.</a:t>
            </a:r>
          </a:p>
          <a:p>
            <a:r>
              <a:rPr lang="en-IN" sz="1000" b="1" dirty="0"/>
              <a:t>[9]</a:t>
            </a:r>
            <a:r>
              <a:rPr lang="en-IN" sz="1000" dirty="0"/>
              <a:t> </a:t>
            </a:r>
            <a:r>
              <a:rPr lang="en-IN" sz="1000" dirty="0" err="1"/>
              <a:t>Karthik</a:t>
            </a:r>
            <a:r>
              <a:rPr lang="en-IN" sz="1000" dirty="0"/>
              <a:t>, M. and </a:t>
            </a:r>
            <a:r>
              <a:rPr lang="en-IN" sz="1000" dirty="0" err="1"/>
              <a:t>Verma</a:t>
            </a:r>
            <a:r>
              <a:rPr lang="en-IN" sz="1000" dirty="0"/>
              <a:t>, S., 2023. Smart Timetable Management System with Constraint Handling. </a:t>
            </a:r>
            <a:r>
              <a:rPr lang="en-IN" sz="1000" i="1" dirty="0"/>
              <a:t>IEEE ICICCS 2023</a:t>
            </a:r>
            <a:r>
              <a:rPr lang="en-IN" sz="1000" dirty="0"/>
              <a:t>, Anna University, India.</a:t>
            </a:r>
          </a:p>
          <a:p>
            <a:r>
              <a:rPr lang="en-IN" sz="1000" b="1" dirty="0"/>
              <a:t>[10]</a:t>
            </a:r>
            <a:r>
              <a:rPr lang="en-IN" sz="1000" dirty="0"/>
              <a:t> Ahmed, S., Rahman, M. and Chowdhury, T., 2021. Automated timetable generation using graph colouring algorithms. </a:t>
            </a:r>
            <a:r>
              <a:rPr lang="en-IN" sz="1000" i="1" dirty="0"/>
              <a:t>International Journal of Computer Science and Information Security</a:t>
            </a:r>
            <a:r>
              <a:rPr lang="en-IN" sz="1000" dirty="0"/>
              <a:t>, 19(4), pp.45–53.</a:t>
            </a:r>
          </a:p>
          <a:p>
            <a:r>
              <a:rPr lang="en-IN" sz="1000" b="1" dirty="0"/>
              <a:t>[11] </a:t>
            </a:r>
            <a:r>
              <a:rPr lang="en-IN" sz="1000" dirty="0" err="1"/>
              <a:t>Nandal</a:t>
            </a:r>
            <a:r>
              <a:rPr lang="en-IN" sz="1000" dirty="0"/>
              <a:t>, P., </a:t>
            </a:r>
            <a:r>
              <a:rPr lang="en-IN" sz="1000" dirty="0" err="1"/>
              <a:t>Satyawali</a:t>
            </a:r>
            <a:r>
              <a:rPr lang="en-IN" sz="1000" dirty="0"/>
              <a:t>, A., </a:t>
            </a:r>
            <a:r>
              <a:rPr lang="en-IN" sz="1000" dirty="0" err="1"/>
              <a:t>Sachdeva</a:t>
            </a:r>
            <a:r>
              <a:rPr lang="en-IN" sz="1000" dirty="0"/>
              <a:t>, D. and </a:t>
            </a:r>
            <a:r>
              <a:rPr lang="en-IN" sz="1000" dirty="0" err="1"/>
              <a:t>Tomar</a:t>
            </a:r>
            <a:r>
              <a:rPr lang="en-IN" sz="1000" dirty="0"/>
              <a:t>, A.S., 2021. </a:t>
            </a:r>
            <a:r>
              <a:rPr lang="en-IN" sz="1000" i="1" dirty="0"/>
              <a:t>Graph </a:t>
            </a:r>
            <a:r>
              <a:rPr lang="en-IN" sz="1000" i="1" dirty="0" err="1"/>
              <a:t>coloring</a:t>
            </a:r>
            <a:r>
              <a:rPr lang="en-IN" sz="1000" i="1" dirty="0"/>
              <a:t> based scheduling algorithm to automatically generate college course timetable</a:t>
            </a:r>
            <a:r>
              <a:rPr lang="en-IN" sz="1000" dirty="0"/>
              <a:t>. In </a:t>
            </a:r>
            <a:r>
              <a:rPr lang="en-IN" sz="1000" i="1" dirty="0"/>
              <a:t>2021 11th International Conference on Cloud Computing, Data Science &amp; Engineering (Confluence)</a:t>
            </a:r>
            <a:r>
              <a:rPr lang="en-IN" sz="1000" dirty="0"/>
              <a:t> (pp.210–214). IEEE.</a:t>
            </a:r>
          </a:p>
          <a:p>
            <a:r>
              <a:rPr lang="en-IN" sz="1000" b="1" dirty="0"/>
              <a:t>[12]</a:t>
            </a:r>
            <a:r>
              <a:rPr lang="en-IN" sz="1000" dirty="0"/>
              <a:t> </a:t>
            </a:r>
            <a:r>
              <a:rPr lang="en-IN" sz="1000" dirty="0" err="1"/>
              <a:t>Sahoo</a:t>
            </a:r>
            <a:r>
              <a:rPr lang="en-IN" sz="1000" dirty="0"/>
              <a:t>, R. and </a:t>
            </a:r>
            <a:r>
              <a:rPr lang="en-IN" sz="1000" dirty="0" err="1"/>
              <a:t>Mohanty</a:t>
            </a:r>
            <a:r>
              <a:rPr lang="en-IN" sz="1000" dirty="0"/>
              <a:t>, B., 2022. Conflict-free scheduling using graph theoretic techniques. </a:t>
            </a:r>
            <a:r>
              <a:rPr lang="en-IN" sz="1000" i="1" dirty="0"/>
              <a:t>Journal of Applied Computing Research</a:t>
            </a:r>
            <a:r>
              <a:rPr lang="en-IN" sz="1000" dirty="0"/>
              <a:t>, 5(1), pp.1–12.</a:t>
            </a:r>
          </a:p>
          <a:p>
            <a:r>
              <a:rPr lang="en-IN" sz="1000" b="1" dirty="0"/>
              <a:t>[13]</a:t>
            </a:r>
            <a:r>
              <a:rPr lang="en-IN" sz="1000" dirty="0"/>
              <a:t> Kumar, A. and Rout, N., 2020. Optimization of university course scheduling using greedy and heuristic techniques. </a:t>
            </a:r>
            <a:r>
              <a:rPr lang="en-IN" sz="1000" i="1" dirty="0"/>
              <a:t>ICCIKE 2020</a:t>
            </a:r>
            <a:r>
              <a:rPr lang="en-IN" sz="1000" dirty="0"/>
              <a:t>, pp.220–226.</a:t>
            </a:r>
          </a:p>
          <a:p>
            <a:r>
              <a:rPr lang="en-IN" sz="1000" b="1" dirty="0"/>
              <a:t>[14]</a:t>
            </a:r>
            <a:r>
              <a:rPr lang="en-IN" sz="1000" dirty="0"/>
              <a:t> Pressman, R.S. and Maxim, B.R., 2020. </a:t>
            </a:r>
            <a:r>
              <a:rPr lang="en-IN" sz="1000" i="1" dirty="0"/>
              <a:t>Software Engineering: A Practitioner’s Approach.</a:t>
            </a:r>
            <a:r>
              <a:rPr lang="en-IN" sz="1000" dirty="0"/>
              <a:t> 9th ed. McGraw-Hill.</a:t>
            </a:r>
          </a:p>
          <a:p>
            <a:pPr>
              <a:buNone/>
            </a:pPr>
            <a:r>
              <a:rPr lang="en-IN" sz="1400" dirty="0">
                <a:latin typeface="Times New Roman"/>
                <a:cs typeface="Times New Roman"/>
              </a:rPr>
              <a:t> </a:t>
            </a:r>
            <a:endParaRPr lang="en-US" sz="1400" dirty="0">
              <a:latin typeface="Times New Roman"/>
              <a:cs typeface="Times New Roman"/>
            </a:endParaRPr>
          </a:p>
          <a:p>
            <a:pPr marL="152400" indent="0">
              <a:spcBef>
                <a:spcPts val="0"/>
              </a:spcBef>
              <a:buNone/>
            </a:pPr>
            <a:endParaRPr lang="en-US" sz="2000" dirty="0"/>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369</TotalTime>
  <Words>1253</Words>
  <Application>Microsoft Office PowerPoint</Application>
  <PresentationFormat>Widescreen</PresentationFormat>
  <Paragraphs>111</Paragraphs>
  <Slides>18</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Cambria</vt:lpstr>
      <vt:lpstr>Times New Roman</vt:lpstr>
      <vt:lpstr>Verdana</vt:lpstr>
      <vt:lpstr>Wingdings</vt:lpstr>
      <vt:lpstr>Bioinformatics</vt:lpstr>
      <vt:lpstr>Summer-Term TimeTable Generation</vt:lpstr>
      <vt:lpstr>Problem Statement Number: PSCS_399 </vt:lpstr>
      <vt:lpstr>Content</vt:lpstr>
      <vt:lpstr>Objectives</vt:lpstr>
      <vt:lpstr>Scope of the Project</vt:lpstr>
      <vt:lpstr>Analysis of Problem Statement</vt:lpstr>
      <vt:lpstr>Analysis of Problem Statement (contd...)</vt:lpstr>
      <vt:lpstr>PowerPoint Presentation</vt:lpstr>
      <vt:lpstr>Github Link</vt:lpstr>
      <vt:lpstr>Timeline of the Project (Gantt Chart)</vt:lpstr>
      <vt:lpstr>PowerPoint Presentation</vt:lpstr>
      <vt:lpstr>PowerPoint Presentation</vt:lpstr>
      <vt:lpstr>Result and Discussions</vt:lpstr>
      <vt:lpstr>PowerPoint Presentation</vt:lpstr>
      <vt:lpstr>PowerPoint Presentation</vt:lpstr>
      <vt:lpstr>PowerPoint Presentation</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keshave gowda</cp:lastModifiedBy>
  <cp:revision>150</cp:revision>
  <dcterms:modified xsi:type="dcterms:W3CDTF">2025-12-03T13:50:21Z</dcterms:modified>
</cp:coreProperties>
</file>