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69" r:id="rId3"/>
    <p:sldId id="257" r:id="rId4"/>
    <p:sldId id="278" r:id="rId5"/>
    <p:sldId id="274" r:id="rId6"/>
    <p:sldId id="273" r:id="rId7"/>
    <p:sldId id="268" r:id="rId8"/>
    <p:sldId id="275" r:id="rId9"/>
    <p:sldId id="276" r:id="rId10"/>
    <p:sldId id="272" r:id="rId11"/>
    <p:sldId id="270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A8AC73-FFC3-4092-95B7-F0B0C0A3C52F}" v="3" dt="2025-08-19T04:51:01.342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hayshah0305/TimetableGenerationSyste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tackoverflow.com/questions/2177836/algorithm-for-creating-a-school-timetable" TargetMode="External"/><Relationship Id="rId4" Type="http://schemas.openxmlformats.org/officeDocument/2006/relationships/hyperlink" Target="https://github.com/PROxZIMA/TimetableScheduler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SUMMER-TERM TIMETABLE GENERATION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</a:t>
            </a:r>
            <a:r>
              <a:rPr lang="en-GB" sz="1800">
                <a:latin typeface="Cambria" panose="02040503050406030204" pitchFamily="18" charset="0"/>
                <a:ea typeface="Cambria" panose="02040503050406030204" pitchFamily="18" charset="0"/>
              </a:rPr>
              <a:t>Number:PSCS_399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Dr.Sandeep Albert Mathias Assitant Prof</a:t>
            </a:r>
            <a:r>
              <a:rPr lang="en-GB" sz="1700" b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essor,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Dr.Anand Prakash Associate Professor,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096130820"/>
              </p:ext>
            </p:extLst>
          </p:nvPr>
        </p:nvGraphicFramePr>
        <p:xfrm>
          <a:off x="553347" y="2723283"/>
          <a:ext cx="5418675" cy="204218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295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23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20221COM0100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            Keerthi D V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20221COM0108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            Vidya 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20221COM0111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            Nishmitha K G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29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553347" y="4659531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Program:Btech in Computer Engineering</a:t>
            </a:r>
            <a:endParaRPr lang="en-US" sz="1800" b="1" i="0" u="none" strike="noStrike" cap="none" dirty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</a:t>
            </a:r>
            <a:r>
              <a:rPr lang="en-US" sz="1800" b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Dr Pallavi R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Ms.Benitha Christinal J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</a:t>
            </a:r>
            <a:r>
              <a:rPr lang="en-US" sz="1800" b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Coordinators:Dr.Sampath A K,Dr.Geetha A</a:t>
            </a:r>
            <a:endParaRPr sz="1800" b="1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-261257"/>
            <a:ext cx="10668000" cy="102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br>
              <a:rPr lang="en-IN"/>
            </a:br>
            <a:r>
              <a:rPr lang="en-IN"/>
              <a:t>Abstract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979714"/>
            <a:ext cx="10668000" cy="511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 automated summer-term timetabling system is presented that pools related courses, balances student sections, and assigns two faculty per section. It processes registration data, applies LTPC-based hour calculations, and enforces enrollment cut-offs, room limits, and clash checks. The system outputs audit-ready CSV/Excel reports on sections, student mapping, faculty/room utilization, and the timetable, offering a lightweight solution for practical summer-term scheduling.</a:t>
            </a: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AF3BDD-D0EE-9E42-C1DB-92745DBCE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86" y="1001486"/>
            <a:ext cx="10322295" cy="49751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2021-72AF-E095-046B-B8DE1015E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Literature Survey(contd…)</a:t>
            </a: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E347C8-1167-DDDF-E58D-BC1DAB14B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58" y="1045029"/>
            <a:ext cx="10384972" cy="483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687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D38699-8125-E787-9C20-F37DAACDD0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1353810"/>
            <a:ext cx="1066800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conflict‑free timetable at student level within a pooled group (slot grid pending) — 🔄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Exclude MOOC‑listed courses from processing — ✅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Enforce minimum enrollment ≥ 8 for pooled groups — ✅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 exactly two distinct faculty per section — ✅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Allocate rooms R001–R200 with weekly capacity guard — ✅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 utilization reports (faculty &amp; room) and Excel package — ✅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simple UI / Export interface — ❌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Existing Methods and Drawbacks: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US" sz="200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Genetic Algorithms: Flexible but computationally heavy; tuning required; overkill for small summer cohorts.</a:t>
            </a:r>
          </a:p>
          <a:p>
            <a:pPr algn="just"/>
            <a:endParaRPr lang="en-US" sz="200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Constraint Programming/ILP: Accurate but slow to model/solve with evolving rules; higher entry barrier.</a:t>
            </a:r>
          </a:p>
          <a:p>
            <a:pPr algn="just"/>
            <a:endParaRPr lang="en-US" sz="200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Heuristics/Greedy: Fast yet often miss special rules (faculty pairs, pooling, MOOC exclusions).</a:t>
            </a:r>
          </a:p>
          <a:p>
            <a:pPr algn="just"/>
            <a:endParaRPr lang="en-US" sz="200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Key drawback addressed: Prior methods rarely target small, pooled summer‑term scenarios with exact two‑faculty enforcement and simple CSV/XLSX inputs.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762000" y="-187286"/>
            <a:ext cx="10668000" cy="1723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15240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Proposed method and Feasibility study: </a:t>
            </a:r>
            <a:b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7112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r>
              <a:rPr lang="en-IN" b="1"/>
              <a:t>Pipeline (implemented)</a:t>
            </a:r>
          </a:p>
          <a:p>
            <a:r>
              <a:rPr lang="en-IN" b="1"/>
              <a:t>Ingest ZIP</a:t>
            </a:r>
            <a:r>
              <a:rPr lang="en-IN"/>
              <a:t> of registrations (multiple XLSX) → normalize columns.</a:t>
            </a:r>
          </a:p>
          <a:p>
            <a:r>
              <a:rPr lang="en-IN" b="1"/>
              <a:t>Credit merge</a:t>
            </a:r>
            <a:r>
              <a:rPr lang="en-IN"/>
              <a:t> (L‑T‑P‑C / credit_structure) → compute weekly hours.</a:t>
            </a:r>
          </a:p>
          <a:p>
            <a:r>
              <a:rPr lang="en-IN" b="1"/>
              <a:t>Apply business rules:</a:t>
            </a:r>
            <a:r>
              <a:rPr lang="en-IN"/>
              <a:t> MOOC filter, minimum enrollment, max 60 students/section.</a:t>
            </a:r>
          </a:p>
          <a:p>
            <a:r>
              <a:rPr lang="en-IN" b="1"/>
              <a:t>Pooling:</a:t>
            </a:r>
            <a:r>
              <a:rPr lang="en-IN"/>
              <a:t> Build group_key (from Subject Grouping.xlsx) and pool registrations.</a:t>
            </a:r>
          </a:p>
          <a:p>
            <a:r>
              <a:rPr lang="en-IN" b="1"/>
              <a:t>Sectioning:</a:t>
            </a:r>
            <a:r>
              <a:rPr lang="en-IN"/>
              <a:t> Deterministic shuffle + chunk; </a:t>
            </a:r>
            <a:r>
              <a:rPr lang="en-IN" b="1"/>
              <a:t>exactly two faculty</a:t>
            </a:r>
            <a:r>
              <a:rPr lang="en-IN"/>
              <a:t>/section.</a:t>
            </a:r>
          </a:p>
          <a:p>
            <a:r>
              <a:rPr lang="en-IN" b="1"/>
              <a:t>Rooming:</a:t>
            </a:r>
            <a:r>
              <a:rPr lang="en-IN"/>
              <a:t> Assign rooms within </a:t>
            </a:r>
            <a:r>
              <a:rPr lang="en-IN" b="1"/>
              <a:t>R001–R200</a:t>
            </a:r>
            <a:r>
              <a:rPr lang="en-IN"/>
              <a:t> with weekly capacity guard.</a:t>
            </a:r>
          </a:p>
          <a:p>
            <a:r>
              <a:rPr lang="en-IN" b="1"/>
              <a:t>Validation:</a:t>
            </a:r>
            <a:r>
              <a:rPr lang="en-IN"/>
              <a:t> No student in &gt;1 section of the same group; faculty pair distinct; room valid.</a:t>
            </a:r>
          </a:p>
          <a:p>
            <a:r>
              <a:rPr lang="en-IN" b="1"/>
              <a:t>Reporting:</a:t>
            </a:r>
            <a:r>
              <a:rPr lang="en-IN"/>
              <a:t> CSV + </a:t>
            </a:r>
            <a:r>
              <a:rPr lang="en-IN" b="1"/>
              <a:t>timetable_outputs_pooled.xlsx</a:t>
            </a:r>
            <a:r>
              <a:rPr lang="en-IN"/>
              <a:t> with all sheets.</a:t>
            </a:r>
          </a:p>
          <a:p>
            <a:r>
              <a:rPr lang="en-IN" b="1"/>
              <a:t>Feasibility</a:t>
            </a:r>
          </a:p>
          <a:p>
            <a:r>
              <a:rPr lang="en-IN" b="1"/>
              <a:t>Technology:</a:t>
            </a:r>
            <a:r>
              <a:rPr lang="en-IN"/>
              <a:t> Python, pandas, numpy, xlsxwriter; runs offline on a laptop.</a:t>
            </a:r>
          </a:p>
          <a:p>
            <a:r>
              <a:rPr lang="en-IN" b="1"/>
              <a:t>Cost:</a:t>
            </a:r>
            <a:r>
              <a:rPr lang="en-IN"/>
              <a:t> Open‑source; zero license.</a:t>
            </a:r>
          </a:p>
          <a:p>
            <a:r>
              <a:rPr lang="en-IN" b="1"/>
              <a:t>Resources:</a:t>
            </a:r>
            <a:r>
              <a:rPr lang="en-IN"/>
              <a:t> Typical 8 GB RAM laptop; minutes for thousands of rows.</a:t>
            </a:r>
          </a:p>
          <a:p>
            <a:r>
              <a:rPr lang="en-IN" b="1"/>
              <a:t>Innovations</a:t>
            </a:r>
          </a:p>
          <a:p>
            <a:r>
              <a:rPr lang="en-IN" b="1"/>
              <a:t>Course pooling (PSCS/PSIS)</a:t>
            </a:r>
            <a:r>
              <a:rPr lang="en-IN"/>
              <a:t> with minimum‑enrollment gating.</a:t>
            </a:r>
          </a:p>
          <a:p>
            <a:r>
              <a:rPr lang="en-IN" b="1"/>
              <a:t>Exact two‑faculty per section</a:t>
            </a:r>
            <a:r>
              <a:rPr lang="en-IN"/>
              <a:t> (pair enforcement).</a:t>
            </a:r>
          </a:p>
          <a:p>
            <a:r>
              <a:rPr lang="en-IN" b="1"/>
              <a:t>Auditability:</a:t>
            </a:r>
            <a:r>
              <a:rPr lang="en-IN"/>
              <a:t> Deterministic RNG seed, rich Excel outputs, clash report.</a:t>
            </a:r>
          </a:p>
          <a:p>
            <a:pPr algn="just"/>
            <a:endParaRPr lang="en-US" sz="260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BBF3-1B55-AD82-338B-A66DD8E65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576942"/>
            <a:ext cx="10668000" cy="185195"/>
          </a:xfrm>
        </p:spPr>
        <p:txBody>
          <a:bodyPr/>
          <a:lstStyle/>
          <a:p>
            <a:r>
              <a:rPr lang="en-IN"/>
              <a:t>Architecture Diagram:</a:t>
            </a:r>
            <a:br>
              <a:rPr lang="en-IN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B03AE-9700-74C9-7580-9B0532FCB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762137"/>
            <a:ext cx="10813143" cy="5638663"/>
          </a:xfrm>
        </p:spPr>
        <p:txBody>
          <a:bodyPr>
            <a:normAutofit/>
          </a:bodyPr>
          <a:lstStyle/>
          <a:p>
            <a:pPr marL="76200" indent="0">
              <a:buNone/>
            </a:pP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25B1F2-A803-27BD-CC36-883B3E9FC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762137"/>
            <a:ext cx="10813143" cy="547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71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A975A-B06C-425F-D404-0D2C99437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672028"/>
            <a:ext cx="10668000" cy="90109"/>
          </a:xfrm>
        </p:spPr>
        <p:txBody>
          <a:bodyPr/>
          <a:lstStyle/>
          <a:p>
            <a:r>
              <a:rPr lang="en-IN"/>
              <a:t>Modules:</a:t>
            </a:r>
            <a:br>
              <a:rPr lang="en-IN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1FBE1-BCFC-ECBB-966B-2EE0AA1D0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Pre‑processing: ZIP extract, XLSX parsing, column normalization.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Credit &amp; Hours: Parse credit structure (L‑T‑P‑C) → weekly hours.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Grouping/Pooling: Map courses to group_key, detect multi‑registration within group.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Sectioning: Max 60 per section, deterministic shuffle.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Faculty Assignment: Auto pair (F001…); ensure distinct pair.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Room Assignment: R001–R200 with weekly capacity guard.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Clash check within group; pair &amp; room sanity.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Reporting: CSV/Excel outputs + utilization.</a:t>
            </a:r>
          </a:p>
        </p:txBody>
      </p:sp>
    </p:spTree>
    <p:extLst>
      <p:ext uri="{BB962C8B-B14F-4D97-AF65-F5344CB8AC3E}">
        <p14:creationId xmlns:p14="http://schemas.microsoft.com/office/powerpoint/2010/main" val="1614185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551543" y="1984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Hardware and Software Details: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903382"/>
            <a:ext cx="10668000" cy="5679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Software: Python 3.x, pandas, numpy, xlsxwriter; OS‑agnostic.</a:t>
            </a:r>
          </a:p>
          <a:p>
            <a:pPr algn="just"/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Hardware: Any laptop/desktop (≥ 8 GB RAM).</a:t>
            </a:r>
          </a:p>
          <a:p>
            <a:pPr algn="just"/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Data: ZIP of registrations, Subject Grouping.xlsx.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465242"/>
            <a:ext cx="10668000" cy="463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-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76D77A-788B-20F4-4D6D-D54C6472B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701099"/>
              </p:ext>
            </p:extLst>
          </p:nvPr>
        </p:nvGraphicFramePr>
        <p:xfrm>
          <a:off x="812800" y="1575412"/>
          <a:ext cx="10668000" cy="4139588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3639161484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67035025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99017338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41050059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958003618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198688523"/>
                    </a:ext>
                  </a:extLst>
                </a:gridCol>
              </a:tblGrid>
              <a:tr h="470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1-3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4-5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6-8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9-10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11-12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951201"/>
                  </a:ext>
                </a:extLst>
              </a:tr>
              <a:tr h="79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Requirement Gathering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████████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666993"/>
                  </a:ext>
                </a:extLst>
              </a:tr>
              <a:tr h="470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Design &amp; Planning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████████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771367"/>
                  </a:ext>
                </a:extLst>
              </a:tr>
              <a:tr h="79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Implementation (GA)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████████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280773"/>
                  </a:ext>
                </a:extLst>
              </a:tr>
              <a:tr h="79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 &amp; Optimization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████████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82740"/>
                  </a:ext>
                </a:extLst>
              </a:tr>
              <a:tr h="79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Deployment &amp;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████████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7275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EB56244-075A-1FAE-23F2-B64C03D09374}"/>
              </a:ext>
            </a:extLst>
          </p:cNvPr>
          <p:cNvSpPr txBox="1"/>
          <p:nvPr/>
        </p:nvSpPr>
        <p:spPr>
          <a:xfrm>
            <a:off x="2796295" y="1157465"/>
            <a:ext cx="67010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                                  ✅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936435"/>
            <a:ext cx="10668000" cy="493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IN"/>
              <a:t>[1] A. Shah, “Timetable Generation System,” GitHub Repository, 2023. [Online]. Available: </a:t>
            </a:r>
            <a:r>
              <a:rPr lang="en-IN">
                <a:hlinkClick r:id="rId3"/>
              </a:rPr>
              <a:t>https://github.com/abhayshah0305/TimetableGenerationSystem</a:t>
            </a:r>
            <a:endParaRPr lang="en-IN"/>
          </a:p>
          <a:p>
            <a:pPr algn="just"/>
            <a:r>
              <a:rPr lang="en-IN"/>
              <a:t>[2] PROxZIMA, “TimetableScheduler: An intelligent timetable generator using Genetic Algorithm,” GitHub Repository, 2022. [Online]. Available: </a:t>
            </a:r>
            <a:r>
              <a:rPr lang="en-IN">
                <a:hlinkClick r:id="rId4"/>
              </a:rPr>
              <a:t>https://github.com/PROxZIMA/TimetableScheduler</a:t>
            </a:r>
            <a:endParaRPr lang="en-IN"/>
          </a:p>
          <a:p>
            <a:pPr algn="just"/>
            <a:r>
              <a:rPr lang="en-IN"/>
              <a:t>[3] S. Kristiansen, “Models and Algorithms for School Timetabling - A Constraint Programming Approach,” Ph.D. dissertation, Univ. Bergen, Norway, 2004.</a:t>
            </a:r>
          </a:p>
          <a:p>
            <a:pPr algn="just"/>
            <a:r>
              <a:rPr lang="en-IN"/>
              <a:t>[4] A. Kumar and B. Patel, “A study on automatic timetable generator,” Int. J. Res. Appl. Sci. Eng. Technol., vol. 6, no. 5, pp. 123-135, May 2025.</a:t>
            </a:r>
          </a:p>
          <a:p>
            <a:pPr algn="just"/>
            <a:r>
              <a:rPr lang="en-IN"/>
              <a:t>[5] J. Smith, “Algorithm for creating a school timetable,” Stack Overflow Discussion, Feb. 2010. [Online]. Available: </a:t>
            </a:r>
            <a:r>
              <a:rPr lang="en-IN">
                <a:hlinkClick r:id="rId5"/>
              </a:rPr>
              <a:t>https://stackoverflow.com/questions/2177836/algorithm-for-creating-a-school-timetable</a:t>
            </a:r>
            <a:endParaRPr lang="en-IN"/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969</Words>
  <Application>Microsoft Office PowerPoint</Application>
  <PresentationFormat>Widescreen</PresentationFormat>
  <Paragraphs>121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Cambria</vt:lpstr>
      <vt:lpstr>Times New Roman</vt:lpstr>
      <vt:lpstr>Verdana</vt:lpstr>
      <vt:lpstr>Bioinformatics</vt:lpstr>
      <vt:lpstr>SUMMER-TERM TIMETABLE GENERATION</vt:lpstr>
      <vt:lpstr> Abstract</vt:lpstr>
      <vt:lpstr>Literature Survey</vt:lpstr>
      <vt:lpstr>Literature Survey(contd…)</vt:lpstr>
      <vt:lpstr>Objectives</vt:lpstr>
      <vt:lpstr>Existing Methods and Drawbacks:</vt:lpstr>
      <vt:lpstr>Proposed method and Feasibility study:  </vt:lpstr>
      <vt:lpstr>Architecture Diagram: </vt:lpstr>
      <vt:lpstr>Modules: </vt:lpstr>
      <vt:lpstr>Hardware and Software Details: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keshave gowda</cp:lastModifiedBy>
  <cp:revision>52</cp:revision>
  <dcterms:modified xsi:type="dcterms:W3CDTF">2025-09-09T17:02:00Z</dcterms:modified>
</cp:coreProperties>
</file>